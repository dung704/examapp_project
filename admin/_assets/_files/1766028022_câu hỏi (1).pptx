
<file path=[Content_Types].xml><?xml version="1.0" encoding="utf-8"?>
<Types xmlns="http://schemas.openxmlformats.org/package/2006/content-types">
  <Default Extension="tmp" ContentType="image/png"/>
  <Default Extension="web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6" r:id="rId3"/>
    <p:sldId id="257" r:id="rId4"/>
    <p:sldId id="258" r:id="rId5"/>
    <p:sldId id="261" r:id="rId6"/>
    <p:sldId id="262"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91" autoAdjust="0"/>
  </p:normalViewPr>
  <p:slideViewPr>
    <p:cSldViewPr snapToGrid="0">
      <p:cViewPr varScale="1">
        <p:scale>
          <a:sx n="109" d="100"/>
          <a:sy n="109" d="100"/>
        </p:scale>
        <p:origin x="67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9F8C0-16BE-AA8B-2534-DF6BBA649F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C9E91EB-59A4-4CC1-61FB-DB832FCE7E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475C01-5E88-CBA9-C19C-F67E099F837A}"/>
              </a:ext>
            </a:extLst>
          </p:cNvPr>
          <p:cNvSpPr>
            <a:spLocks noGrp="1"/>
          </p:cNvSpPr>
          <p:nvPr>
            <p:ph type="dt" sz="half" idx="10"/>
          </p:nvPr>
        </p:nvSpPr>
        <p:spPr/>
        <p:txBody>
          <a:bodyPr/>
          <a:lstStyle/>
          <a:p>
            <a:fld id="{DC8B4CB4-37DE-45B4-B5E5-279702385E36}" type="datetimeFigureOut">
              <a:rPr lang="en-US" smtClean="0"/>
              <a:t>12/12/2023</a:t>
            </a:fld>
            <a:endParaRPr lang="en-US"/>
          </a:p>
        </p:txBody>
      </p:sp>
      <p:sp>
        <p:nvSpPr>
          <p:cNvPr id="5" name="Footer Placeholder 4">
            <a:extLst>
              <a:ext uri="{FF2B5EF4-FFF2-40B4-BE49-F238E27FC236}">
                <a16:creationId xmlns:a16="http://schemas.microsoft.com/office/drawing/2014/main" id="{5546357D-FDD3-FA22-9FC9-AA06C2E1F6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EDE9B8-0785-6989-69CB-A25B224065D0}"/>
              </a:ext>
            </a:extLst>
          </p:cNvPr>
          <p:cNvSpPr>
            <a:spLocks noGrp="1"/>
          </p:cNvSpPr>
          <p:nvPr>
            <p:ph type="sldNum" sz="quarter" idx="12"/>
          </p:nvPr>
        </p:nvSpPr>
        <p:spPr/>
        <p:txBody>
          <a:bodyPr/>
          <a:lstStyle/>
          <a:p>
            <a:fld id="{E6EBB96C-F96C-47C8-988B-DF164937D413}" type="slidenum">
              <a:rPr lang="en-US" smtClean="0"/>
              <a:t>‹#›</a:t>
            </a:fld>
            <a:endParaRPr lang="en-US"/>
          </a:p>
        </p:txBody>
      </p:sp>
    </p:spTree>
    <p:extLst>
      <p:ext uri="{BB962C8B-B14F-4D97-AF65-F5344CB8AC3E}">
        <p14:creationId xmlns:p14="http://schemas.microsoft.com/office/powerpoint/2010/main" val="132229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BABDE-16AE-7D47-C890-59B1D3B845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915288-2FD4-74A6-D00E-83E9CD1D67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6191B2-EC39-6BAF-0C94-3453BDA5F9F2}"/>
              </a:ext>
            </a:extLst>
          </p:cNvPr>
          <p:cNvSpPr>
            <a:spLocks noGrp="1"/>
          </p:cNvSpPr>
          <p:nvPr>
            <p:ph type="dt" sz="half" idx="10"/>
          </p:nvPr>
        </p:nvSpPr>
        <p:spPr/>
        <p:txBody>
          <a:bodyPr/>
          <a:lstStyle/>
          <a:p>
            <a:fld id="{DC8B4CB4-37DE-45B4-B5E5-279702385E36}" type="datetimeFigureOut">
              <a:rPr lang="en-US" smtClean="0"/>
              <a:t>12/12/2023</a:t>
            </a:fld>
            <a:endParaRPr lang="en-US"/>
          </a:p>
        </p:txBody>
      </p:sp>
      <p:sp>
        <p:nvSpPr>
          <p:cNvPr id="5" name="Footer Placeholder 4">
            <a:extLst>
              <a:ext uri="{FF2B5EF4-FFF2-40B4-BE49-F238E27FC236}">
                <a16:creationId xmlns:a16="http://schemas.microsoft.com/office/drawing/2014/main" id="{350C4623-2FD6-3AB7-66A1-4744BFFCB4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9FEF94-9C08-3C0A-A0F7-218866F55998}"/>
              </a:ext>
            </a:extLst>
          </p:cNvPr>
          <p:cNvSpPr>
            <a:spLocks noGrp="1"/>
          </p:cNvSpPr>
          <p:nvPr>
            <p:ph type="sldNum" sz="quarter" idx="12"/>
          </p:nvPr>
        </p:nvSpPr>
        <p:spPr/>
        <p:txBody>
          <a:bodyPr/>
          <a:lstStyle/>
          <a:p>
            <a:fld id="{E6EBB96C-F96C-47C8-988B-DF164937D413}" type="slidenum">
              <a:rPr lang="en-US" smtClean="0"/>
              <a:t>‹#›</a:t>
            </a:fld>
            <a:endParaRPr lang="en-US"/>
          </a:p>
        </p:txBody>
      </p:sp>
    </p:spTree>
    <p:extLst>
      <p:ext uri="{BB962C8B-B14F-4D97-AF65-F5344CB8AC3E}">
        <p14:creationId xmlns:p14="http://schemas.microsoft.com/office/powerpoint/2010/main" val="2848626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884D1-7639-D5AC-F6C5-FBFD827062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F37732-2398-546D-0670-54FEFD30F5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701703-F3CE-2256-EA56-BD4DA4E161F6}"/>
              </a:ext>
            </a:extLst>
          </p:cNvPr>
          <p:cNvSpPr>
            <a:spLocks noGrp="1"/>
          </p:cNvSpPr>
          <p:nvPr>
            <p:ph type="dt" sz="half" idx="10"/>
          </p:nvPr>
        </p:nvSpPr>
        <p:spPr/>
        <p:txBody>
          <a:bodyPr/>
          <a:lstStyle/>
          <a:p>
            <a:fld id="{DC8B4CB4-37DE-45B4-B5E5-279702385E36}" type="datetimeFigureOut">
              <a:rPr lang="en-US" smtClean="0"/>
              <a:t>12/12/2023</a:t>
            </a:fld>
            <a:endParaRPr lang="en-US"/>
          </a:p>
        </p:txBody>
      </p:sp>
      <p:sp>
        <p:nvSpPr>
          <p:cNvPr id="5" name="Footer Placeholder 4">
            <a:extLst>
              <a:ext uri="{FF2B5EF4-FFF2-40B4-BE49-F238E27FC236}">
                <a16:creationId xmlns:a16="http://schemas.microsoft.com/office/drawing/2014/main" id="{DAE6D448-E568-C976-C96D-B10B08D44C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88DB67-2353-1925-7D4F-8D1E0B32668D}"/>
              </a:ext>
            </a:extLst>
          </p:cNvPr>
          <p:cNvSpPr>
            <a:spLocks noGrp="1"/>
          </p:cNvSpPr>
          <p:nvPr>
            <p:ph type="sldNum" sz="quarter" idx="12"/>
          </p:nvPr>
        </p:nvSpPr>
        <p:spPr/>
        <p:txBody>
          <a:bodyPr/>
          <a:lstStyle/>
          <a:p>
            <a:fld id="{E6EBB96C-F96C-47C8-988B-DF164937D413}" type="slidenum">
              <a:rPr lang="en-US" smtClean="0"/>
              <a:t>‹#›</a:t>
            </a:fld>
            <a:endParaRPr lang="en-US"/>
          </a:p>
        </p:txBody>
      </p:sp>
    </p:spTree>
    <p:extLst>
      <p:ext uri="{BB962C8B-B14F-4D97-AF65-F5344CB8AC3E}">
        <p14:creationId xmlns:p14="http://schemas.microsoft.com/office/powerpoint/2010/main" val="3995277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67C37-A3C3-A654-A2A2-D43E53BC76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15AD94-AE0E-A89F-90C9-83C612A4E5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A54214-B3EB-2CA6-A4FB-7031DB1461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7426FA-31E1-211C-0EB9-AE53FC2FBACA}"/>
              </a:ext>
            </a:extLst>
          </p:cNvPr>
          <p:cNvSpPr>
            <a:spLocks noGrp="1"/>
          </p:cNvSpPr>
          <p:nvPr>
            <p:ph type="dt" sz="half" idx="10"/>
          </p:nvPr>
        </p:nvSpPr>
        <p:spPr/>
        <p:txBody>
          <a:bodyPr/>
          <a:lstStyle/>
          <a:p>
            <a:fld id="{DC8B4CB4-37DE-45B4-B5E5-279702385E36}" type="datetimeFigureOut">
              <a:rPr lang="en-US" smtClean="0"/>
              <a:t>12/12/2023</a:t>
            </a:fld>
            <a:endParaRPr lang="en-US"/>
          </a:p>
        </p:txBody>
      </p:sp>
      <p:sp>
        <p:nvSpPr>
          <p:cNvPr id="6" name="Footer Placeholder 5">
            <a:extLst>
              <a:ext uri="{FF2B5EF4-FFF2-40B4-BE49-F238E27FC236}">
                <a16:creationId xmlns:a16="http://schemas.microsoft.com/office/drawing/2014/main" id="{B54DF9F2-DC4D-EB66-4239-2F4F26154C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EC61BA-3EC9-0420-1122-D67774F4682C}"/>
              </a:ext>
            </a:extLst>
          </p:cNvPr>
          <p:cNvSpPr>
            <a:spLocks noGrp="1"/>
          </p:cNvSpPr>
          <p:nvPr>
            <p:ph type="sldNum" sz="quarter" idx="12"/>
          </p:nvPr>
        </p:nvSpPr>
        <p:spPr/>
        <p:txBody>
          <a:bodyPr/>
          <a:lstStyle/>
          <a:p>
            <a:fld id="{E6EBB96C-F96C-47C8-988B-DF164937D413}" type="slidenum">
              <a:rPr lang="en-US" smtClean="0"/>
              <a:t>‹#›</a:t>
            </a:fld>
            <a:endParaRPr lang="en-US"/>
          </a:p>
        </p:txBody>
      </p:sp>
    </p:spTree>
    <p:extLst>
      <p:ext uri="{BB962C8B-B14F-4D97-AF65-F5344CB8AC3E}">
        <p14:creationId xmlns:p14="http://schemas.microsoft.com/office/powerpoint/2010/main" val="4242880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05415-B5D8-5501-9B7A-E31E15A795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E86B1E-F6F1-21EC-EA43-F07C3B38EA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CBF229-1A5B-C909-CE0C-F64411021A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169448C-5D2C-27EF-FAFD-CA8ED6282B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ADA28F-AC8C-7AA0-BD9F-7F31F9743D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634593-7579-AD63-51D7-92DDE599C989}"/>
              </a:ext>
            </a:extLst>
          </p:cNvPr>
          <p:cNvSpPr>
            <a:spLocks noGrp="1"/>
          </p:cNvSpPr>
          <p:nvPr>
            <p:ph type="dt" sz="half" idx="10"/>
          </p:nvPr>
        </p:nvSpPr>
        <p:spPr/>
        <p:txBody>
          <a:bodyPr/>
          <a:lstStyle/>
          <a:p>
            <a:fld id="{DC8B4CB4-37DE-45B4-B5E5-279702385E36}" type="datetimeFigureOut">
              <a:rPr lang="en-US" smtClean="0"/>
              <a:t>12/12/2023</a:t>
            </a:fld>
            <a:endParaRPr lang="en-US"/>
          </a:p>
        </p:txBody>
      </p:sp>
      <p:sp>
        <p:nvSpPr>
          <p:cNvPr id="8" name="Footer Placeholder 7">
            <a:extLst>
              <a:ext uri="{FF2B5EF4-FFF2-40B4-BE49-F238E27FC236}">
                <a16:creationId xmlns:a16="http://schemas.microsoft.com/office/drawing/2014/main" id="{89CC4FB0-2715-FD3B-0F8F-BEF02F343D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FCC893-11C3-6D52-F258-0157330788DA}"/>
              </a:ext>
            </a:extLst>
          </p:cNvPr>
          <p:cNvSpPr>
            <a:spLocks noGrp="1"/>
          </p:cNvSpPr>
          <p:nvPr>
            <p:ph type="sldNum" sz="quarter" idx="12"/>
          </p:nvPr>
        </p:nvSpPr>
        <p:spPr/>
        <p:txBody>
          <a:bodyPr/>
          <a:lstStyle/>
          <a:p>
            <a:fld id="{E6EBB96C-F96C-47C8-988B-DF164937D413}" type="slidenum">
              <a:rPr lang="en-US" smtClean="0"/>
              <a:t>‹#›</a:t>
            </a:fld>
            <a:endParaRPr lang="en-US"/>
          </a:p>
        </p:txBody>
      </p:sp>
    </p:spTree>
    <p:extLst>
      <p:ext uri="{BB962C8B-B14F-4D97-AF65-F5344CB8AC3E}">
        <p14:creationId xmlns:p14="http://schemas.microsoft.com/office/powerpoint/2010/main" val="1266443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DEB90-28E0-6D3C-94CF-6044B8F70F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3DD3523-9FF9-1A7B-EF71-0ECFE78D744B}"/>
              </a:ext>
            </a:extLst>
          </p:cNvPr>
          <p:cNvSpPr>
            <a:spLocks noGrp="1"/>
          </p:cNvSpPr>
          <p:nvPr>
            <p:ph type="dt" sz="half" idx="10"/>
          </p:nvPr>
        </p:nvSpPr>
        <p:spPr/>
        <p:txBody>
          <a:bodyPr/>
          <a:lstStyle/>
          <a:p>
            <a:fld id="{DC8B4CB4-37DE-45B4-B5E5-279702385E36}" type="datetimeFigureOut">
              <a:rPr lang="en-US" smtClean="0"/>
              <a:t>12/12/2023</a:t>
            </a:fld>
            <a:endParaRPr lang="en-US"/>
          </a:p>
        </p:txBody>
      </p:sp>
      <p:sp>
        <p:nvSpPr>
          <p:cNvPr id="4" name="Footer Placeholder 3">
            <a:extLst>
              <a:ext uri="{FF2B5EF4-FFF2-40B4-BE49-F238E27FC236}">
                <a16:creationId xmlns:a16="http://schemas.microsoft.com/office/drawing/2014/main" id="{83F6C589-A45A-A0E3-1C6D-A2AF14975D4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3E2DB63-1845-F6A8-3300-58AA7F44C92B}"/>
              </a:ext>
            </a:extLst>
          </p:cNvPr>
          <p:cNvSpPr>
            <a:spLocks noGrp="1"/>
          </p:cNvSpPr>
          <p:nvPr>
            <p:ph type="sldNum" sz="quarter" idx="12"/>
          </p:nvPr>
        </p:nvSpPr>
        <p:spPr/>
        <p:txBody>
          <a:bodyPr/>
          <a:lstStyle/>
          <a:p>
            <a:fld id="{E6EBB96C-F96C-47C8-988B-DF164937D413}" type="slidenum">
              <a:rPr lang="en-US" smtClean="0"/>
              <a:t>‹#›</a:t>
            </a:fld>
            <a:endParaRPr lang="en-US"/>
          </a:p>
        </p:txBody>
      </p:sp>
    </p:spTree>
    <p:extLst>
      <p:ext uri="{BB962C8B-B14F-4D97-AF65-F5344CB8AC3E}">
        <p14:creationId xmlns:p14="http://schemas.microsoft.com/office/powerpoint/2010/main" val="474856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8298A8-C9BE-5FA1-99F6-7984A7D7DB43}"/>
              </a:ext>
            </a:extLst>
          </p:cNvPr>
          <p:cNvSpPr>
            <a:spLocks noGrp="1"/>
          </p:cNvSpPr>
          <p:nvPr>
            <p:ph type="dt" sz="half" idx="10"/>
          </p:nvPr>
        </p:nvSpPr>
        <p:spPr/>
        <p:txBody>
          <a:bodyPr/>
          <a:lstStyle/>
          <a:p>
            <a:fld id="{DC8B4CB4-37DE-45B4-B5E5-279702385E36}" type="datetimeFigureOut">
              <a:rPr lang="en-US" smtClean="0"/>
              <a:t>12/12/2023</a:t>
            </a:fld>
            <a:endParaRPr lang="en-US"/>
          </a:p>
        </p:txBody>
      </p:sp>
      <p:sp>
        <p:nvSpPr>
          <p:cNvPr id="3" name="Footer Placeholder 2">
            <a:extLst>
              <a:ext uri="{FF2B5EF4-FFF2-40B4-BE49-F238E27FC236}">
                <a16:creationId xmlns:a16="http://schemas.microsoft.com/office/drawing/2014/main" id="{4001358D-D990-DFB1-9843-50B1A9B2C4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810E611-A15D-9B7F-898A-D3FBF78F5BF8}"/>
              </a:ext>
            </a:extLst>
          </p:cNvPr>
          <p:cNvSpPr>
            <a:spLocks noGrp="1"/>
          </p:cNvSpPr>
          <p:nvPr>
            <p:ph type="sldNum" sz="quarter" idx="12"/>
          </p:nvPr>
        </p:nvSpPr>
        <p:spPr/>
        <p:txBody>
          <a:bodyPr/>
          <a:lstStyle/>
          <a:p>
            <a:fld id="{E6EBB96C-F96C-47C8-988B-DF164937D413}" type="slidenum">
              <a:rPr lang="en-US" smtClean="0"/>
              <a:t>‹#›</a:t>
            </a:fld>
            <a:endParaRPr lang="en-US"/>
          </a:p>
        </p:txBody>
      </p:sp>
    </p:spTree>
    <p:extLst>
      <p:ext uri="{BB962C8B-B14F-4D97-AF65-F5344CB8AC3E}">
        <p14:creationId xmlns:p14="http://schemas.microsoft.com/office/powerpoint/2010/main" val="2540932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627C7-5210-7091-2CA7-F8F1D1943A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A08B22-E209-C73C-3822-F422AC0E81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CE90B4-6AAD-2D2C-0E01-E29AC08AB9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E01436-62E2-AD38-219E-C8A5CEAF27EE}"/>
              </a:ext>
            </a:extLst>
          </p:cNvPr>
          <p:cNvSpPr>
            <a:spLocks noGrp="1"/>
          </p:cNvSpPr>
          <p:nvPr>
            <p:ph type="dt" sz="half" idx="10"/>
          </p:nvPr>
        </p:nvSpPr>
        <p:spPr/>
        <p:txBody>
          <a:bodyPr/>
          <a:lstStyle/>
          <a:p>
            <a:fld id="{DC8B4CB4-37DE-45B4-B5E5-279702385E36}" type="datetimeFigureOut">
              <a:rPr lang="en-US" smtClean="0"/>
              <a:t>12/12/2023</a:t>
            </a:fld>
            <a:endParaRPr lang="en-US"/>
          </a:p>
        </p:txBody>
      </p:sp>
      <p:sp>
        <p:nvSpPr>
          <p:cNvPr id="6" name="Footer Placeholder 5">
            <a:extLst>
              <a:ext uri="{FF2B5EF4-FFF2-40B4-BE49-F238E27FC236}">
                <a16:creationId xmlns:a16="http://schemas.microsoft.com/office/drawing/2014/main" id="{7590ABCD-192C-777B-6BC6-21A603AF9E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BEA1F9-6DB3-80DC-0438-160C26052FC0}"/>
              </a:ext>
            </a:extLst>
          </p:cNvPr>
          <p:cNvSpPr>
            <a:spLocks noGrp="1"/>
          </p:cNvSpPr>
          <p:nvPr>
            <p:ph type="sldNum" sz="quarter" idx="12"/>
          </p:nvPr>
        </p:nvSpPr>
        <p:spPr/>
        <p:txBody>
          <a:bodyPr/>
          <a:lstStyle/>
          <a:p>
            <a:fld id="{E6EBB96C-F96C-47C8-988B-DF164937D413}" type="slidenum">
              <a:rPr lang="en-US" smtClean="0"/>
              <a:t>‹#›</a:t>
            </a:fld>
            <a:endParaRPr lang="en-US"/>
          </a:p>
        </p:txBody>
      </p:sp>
    </p:spTree>
    <p:extLst>
      <p:ext uri="{BB962C8B-B14F-4D97-AF65-F5344CB8AC3E}">
        <p14:creationId xmlns:p14="http://schemas.microsoft.com/office/powerpoint/2010/main" val="209217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2A7A9-A39E-3862-30B4-9C4D5A0ED2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A53E54-0F88-B165-B9D3-A140C543D8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2259E0-6294-C65E-576F-44582E844D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B8CD33-B050-50A2-1DCA-E804FADF5848}"/>
              </a:ext>
            </a:extLst>
          </p:cNvPr>
          <p:cNvSpPr>
            <a:spLocks noGrp="1"/>
          </p:cNvSpPr>
          <p:nvPr>
            <p:ph type="dt" sz="half" idx="10"/>
          </p:nvPr>
        </p:nvSpPr>
        <p:spPr/>
        <p:txBody>
          <a:bodyPr/>
          <a:lstStyle/>
          <a:p>
            <a:fld id="{DC8B4CB4-37DE-45B4-B5E5-279702385E36}" type="datetimeFigureOut">
              <a:rPr lang="en-US" smtClean="0"/>
              <a:t>12/12/2023</a:t>
            </a:fld>
            <a:endParaRPr lang="en-US"/>
          </a:p>
        </p:txBody>
      </p:sp>
      <p:sp>
        <p:nvSpPr>
          <p:cNvPr id="6" name="Footer Placeholder 5">
            <a:extLst>
              <a:ext uri="{FF2B5EF4-FFF2-40B4-BE49-F238E27FC236}">
                <a16:creationId xmlns:a16="http://schemas.microsoft.com/office/drawing/2014/main" id="{EAE1C7A1-6752-38E7-E5DF-EFF0F59B6A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95DC23-F14A-9035-97BC-5DB65043F53C}"/>
              </a:ext>
            </a:extLst>
          </p:cNvPr>
          <p:cNvSpPr>
            <a:spLocks noGrp="1"/>
          </p:cNvSpPr>
          <p:nvPr>
            <p:ph type="sldNum" sz="quarter" idx="12"/>
          </p:nvPr>
        </p:nvSpPr>
        <p:spPr/>
        <p:txBody>
          <a:bodyPr/>
          <a:lstStyle/>
          <a:p>
            <a:fld id="{E6EBB96C-F96C-47C8-988B-DF164937D413}" type="slidenum">
              <a:rPr lang="en-US" smtClean="0"/>
              <a:t>‹#›</a:t>
            </a:fld>
            <a:endParaRPr lang="en-US"/>
          </a:p>
        </p:txBody>
      </p:sp>
    </p:spTree>
    <p:extLst>
      <p:ext uri="{BB962C8B-B14F-4D97-AF65-F5344CB8AC3E}">
        <p14:creationId xmlns:p14="http://schemas.microsoft.com/office/powerpoint/2010/main" val="499685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F1FA5-C063-A532-D33C-11E048FC76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6FFA2E-E7D4-04EC-33D9-44C82A0A18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6A1C0-43BB-56FA-8610-44C87E42B487}"/>
              </a:ext>
            </a:extLst>
          </p:cNvPr>
          <p:cNvSpPr>
            <a:spLocks noGrp="1"/>
          </p:cNvSpPr>
          <p:nvPr>
            <p:ph type="dt" sz="half" idx="10"/>
          </p:nvPr>
        </p:nvSpPr>
        <p:spPr/>
        <p:txBody>
          <a:bodyPr/>
          <a:lstStyle/>
          <a:p>
            <a:fld id="{DC8B4CB4-37DE-45B4-B5E5-279702385E36}" type="datetimeFigureOut">
              <a:rPr lang="en-US" smtClean="0"/>
              <a:t>12/12/2023</a:t>
            </a:fld>
            <a:endParaRPr lang="en-US"/>
          </a:p>
        </p:txBody>
      </p:sp>
      <p:sp>
        <p:nvSpPr>
          <p:cNvPr id="5" name="Footer Placeholder 4">
            <a:extLst>
              <a:ext uri="{FF2B5EF4-FFF2-40B4-BE49-F238E27FC236}">
                <a16:creationId xmlns:a16="http://schemas.microsoft.com/office/drawing/2014/main" id="{290E101F-6196-D44C-164A-A7024F31B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099AFE-BEDE-A038-9161-610F1FD36B43}"/>
              </a:ext>
            </a:extLst>
          </p:cNvPr>
          <p:cNvSpPr>
            <a:spLocks noGrp="1"/>
          </p:cNvSpPr>
          <p:nvPr>
            <p:ph type="sldNum" sz="quarter" idx="12"/>
          </p:nvPr>
        </p:nvSpPr>
        <p:spPr/>
        <p:txBody>
          <a:bodyPr/>
          <a:lstStyle/>
          <a:p>
            <a:fld id="{E6EBB96C-F96C-47C8-988B-DF164937D413}" type="slidenum">
              <a:rPr lang="en-US" smtClean="0"/>
              <a:t>‹#›</a:t>
            </a:fld>
            <a:endParaRPr lang="en-US"/>
          </a:p>
        </p:txBody>
      </p:sp>
    </p:spTree>
    <p:extLst>
      <p:ext uri="{BB962C8B-B14F-4D97-AF65-F5344CB8AC3E}">
        <p14:creationId xmlns:p14="http://schemas.microsoft.com/office/powerpoint/2010/main" val="3010495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F769DA-6414-4B10-8EFE-E2FB0B0E93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F2EDE5-8FBD-7E50-57F1-C80EB74E2D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7FB979-5C2C-137B-F4C8-36C26334CAB0}"/>
              </a:ext>
            </a:extLst>
          </p:cNvPr>
          <p:cNvSpPr>
            <a:spLocks noGrp="1"/>
          </p:cNvSpPr>
          <p:nvPr>
            <p:ph type="dt" sz="half" idx="10"/>
          </p:nvPr>
        </p:nvSpPr>
        <p:spPr/>
        <p:txBody>
          <a:bodyPr/>
          <a:lstStyle/>
          <a:p>
            <a:fld id="{DC8B4CB4-37DE-45B4-B5E5-279702385E36}" type="datetimeFigureOut">
              <a:rPr lang="en-US" smtClean="0"/>
              <a:t>12/12/2023</a:t>
            </a:fld>
            <a:endParaRPr lang="en-US"/>
          </a:p>
        </p:txBody>
      </p:sp>
      <p:sp>
        <p:nvSpPr>
          <p:cNvPr id="5" name="Footer Placeholder 4">
            <a:extLst>
              <a:ext uri="{FF2B5EF4-FFF2-40B4-BE49-F238E27FC236}">
                <a16:creationId xmlns:a16="http://schemas.microsoft.com/office/drawing/2014/main" id="{FBB7B610-788A-DB04-131D-7F8F779B8E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C79639-B8C7-ACED-BB98-43D946162C02}"/>
              </a:ext>
            </a:extLst>
          </p:cNvPr>
          <p:cNvSpPr>
            <a:spLocks noGrp="1"/>
          </p:cNvSpPr>
          <p:nvPr>
            <p:ph type="sldNum" sz="quarter" idx="12"/>
          </p:nvPr>
        </p:nvSpPr>
        <p:spPr/>
        <p:txBody>
          <a:bodyPr/>
          <a:lstStyle/>
          <a:p>
            <a:fld id="{E6EBB96C-F96C-47C8-988B-DF164937D413}" type="slidenum">
              <a:rPr lang="en-US" smtClean="0"/>
              <a:t>‹#›</a:t>
            </a:fld>
            <a:endParaRPr lang="en-US"/>
          </a:p>
        </p:txBody>
      </p:sp>
    </p:spTree>
    <p:extLst>
      <p:ext uri="{BB962C8B-B14F-4D97-AF65-F5344CB8AC3E}">
        <p14:creationId xmlns:p14="http://schemas.microsoft.com/office/powerpoint/2010/main" val="1210322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80052A-E161-1E44-F71A-5F5C92E261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F3B7CE-0428-3A2F-AB22-F06A91FE09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734AD0-0727-4886-F3A4-6362FF8D1D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8B4CB4-37DE-45B4-B5E5-279702385E36}" type="datetimeFigureOut">
              <a:rPr lang="en-US" smtClean="0"/>
              <a:t>12/12/2023</a:t>
            </a:fld>
            <a:endParaRPr lang="en-US"/>
          </a:p>
        </p:txBody>
      </p:sp>
      <p:sp>
        <p:nvSpPr>
          <p:cNvPr id="5" name="Footer Placeholder 4">
            <a:extLst>
              <a:ext uri="{FF2B5EF4-FFF2-40B4-BE49-F238E27FC236}">
                <a16:creationId xmlns:a16="http://schemas.microsoft.com/office/drawing/2014/main" id="{BC28A39B-C883-110A-3BD5-D03DDD238F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4B9FDFA-2459-4A9D-1C80-7307AF41AC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EBB96C-F96C-47C8-988B-DF164937D413}" type="slidenum">
              <a:rPr lang="en-US" smtClean="0"/>
              <a:t>‹#›</a:t>
            </a:fld>
            <a:endParaRPr lang="en-US"/>
          </a:p>
        </p:txBody>
      </p:sp>
    </p:spTree>
    <p:extLst>
      <p:ext uri="{BB962C8B-B14F-4D97-AF65-F5344CB8AC3E}">
        <p14:creationId xmlns:p14="http://schemas.microsoft.com/office/powerpoint/2010/main" val="1444592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tmp"/><Relationship Id="rId1" Type="http://schemas.openxmlformats.org/officeDocument/2006/relationships/slideLayout" Target="../slideLayouts/slideLayout6.xml"/><Relationship Id="rId4" Type="http://schemas.openxmlformats.org/officeDocument/2006/relationships/image" Target="../media/image3.tm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webp"/><Relationship Id="rId1" Type="http://schemas.openxmlformats.org/officeDocument/2006/relationships/slideLayout" Target="../slideLayouts/slideLayout6.xml"/><Relationship Id="rId4" Type="http://schemas.openxmlformats.org/officeDocument/2006/relationships/image" Target="../media/image6.tm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13E0A-EF15-F432-8C9E-3AF46C84C5D4}"/>
              </a:ext>
            </a:extLst>
          </p:cNvPr>
          <p:cNvSpPr>
            <a:spLocks noGrp="1"/>
          </p:cNvSpPr>
          <p:nvPr>
            <p:ph type="title"/>
          </p:nvPr>
        </p:nvSpPr>
        <p:spPr>
          <a:xfrm rot="10800000" flipV="1">
            <a:off x="182880" y="1097280"/>
            <a:ext cx="8848578" cy="984738"/>
          </a:xfrm>
          <a:solidFill>
            <a:schemeClr val="bg1"/>
          </a:solidFill>
        </p:spPr>
        <p:txBody>
          <a:bodyPr>
            <a:normAutofit/>
          </a:bodyPr>
          <a:lstStyle/>
          <a:p>
            <a:r>
              <a:rPr lang="en-US" sz="5800" b="1" dirty="0">
                <a:ln w="9525" cmpd="sng">
                  <a:solidFill>
                    <a:schemeClr val="tx1"/>
                  </a:solidFill>
                  <a:prstDash val="solid"/>
                </a:ln>
                <a:solidFill>
                  <a:schemeClr val="tx1">
                    <a:lumMod val="85000"/>
                    <a:lumOff val="15000"/>
                  </a:schemeClr>
                </a:solidFill>
                <a:effectLst/>
                <a:latin typeface="Times New Roman" panose="02020603050405020304" pitchFamily="18" charset="0"/>
                <a:cs typeface="Times New Roman" panose="02020603050405020304" pitchFamily="18" charset="0"/>
              </a:rPr>
              <a:t>    </a:t>
            </a:r>
            <a:r>
              <a:rPr lang="en-US" sz="5800" b="1" i="1" dirty="0" err="1">
                <a:ln w="9525" cmpd="sng">
                  <a:solidFill>
                    <a:schemeClr val="tx1"/>
                  </a:solidFill>
                  <a:prstDash val="solid"/>
                </a:ln>
                <a:solidFill>
                  <a:schemeClr val="tx1">
                    <a:lumMod val="85000"/>
                    <a:lumOff val="15000"/>
                  </a:schemeClr>
                </a:solidFill>
                <a:effectLst>
                  <a:reflection blurRad="6350" stA="55000" endA="50" endPos="85000" dist="60007" dir="5400000" sy="-100000" algn="bl" rotWithShape="0"/>
                </a:effectLst>
                <a:latin typeface="Times New Roman" panose="02020603050405020304" pitchFamily="18" charset="0"/>
                <a:cs typeface="Times New Roman" panose="02020603050405020304" pitchFamily="18" charset="0"/>
              </a:rPr>
              <a:t>Các</a:t>
            </a:r>
            <a:r>
              <a:rPr lang="en-US" sz="5800" b="1" i="1" dirty="0">
                <a:ln w="9525" cmpd="sng">
                  <a:solidFill>
                    <a:schemeClr val="tx1"/>
                  </a:solidFill>
                  <a:prstDash val="solid"/>
                </a:ln>
                <a:solidFill>
                  <a:schemeClr val="tx1">
                    <a:lumMod val="85000"/>
                    <a:lumOff val="15000"/>
                  </a:schemeClr>
                </a:solidFill>
                <a:effectLst>
                  <a:reflection blurRad="6350" stA="55000" endA="50" endPos="85000" dist="60007" dir="5400000" sy="-100000" algn="bl" rotWithShape="0"/>
                </a:effectLst>
                <a:latin typeface="Times New Roman" panose="02020603050405020304" pitchFamily="18" charset="0"/>
                <a:cs typeface="Times New Roman" panose="02020603050405020304" pitchFamily="18" charset="0"/>
              </a:rPr>
              <a:t> </a:t>
            </a:r>
            <a:r>
              <a:rPr lang="en-US" sz="5800" b="1" i="1" dirty="0" err="1">
                <a:ln w="9525" cmpd="sng">
                  <a:solidFill>
                    <a:schemeClr val="tx1"/>
                  </a:solidFill>
                  <a:prstDash val="solid"/>
                </a:ln>
                <a:solidFill>
                  <a:schemeClr val="tx1">
                    <a:lumMod val="85000"/>
                    <a:lumOff val="15000"/>
                  </a:schemeClr>
                </a:solidFill>
                <a:effectLst>
                  <a:reflection blurRad="6350" stA="55000" endA="50" endPos="85000" dist="60007" dir="5400000" sy="-100000" algn="bl" rotWithShape="0"/>
                </a:effectLst>
                <a:latin typeface="Times New Roman" panose="02020603050405020304" pitchFamily="18" charset="0"/>
                <a:cs typeface="Times New Roman" panose="02020603050405020304" pitchFamily="18" charset="0"/>
              </a:rPr>
              <a:t>câu</a:t>
            </a:r>
            <a:r>
              <a:rPr lang="en-US" sz="5800" b="1" i="1" dirty="0">
                <a:ln w="9525" cmpd="sng">
                  <a:solidFill>
                    <a:schemeClr val="tx1"/>
                  </a:solidFill>
                  <a:prstDash val="solid"/>
                </a:ln>
                <a:solidFill>
                  <a:schemeClr val="tx1">
                    <a:lumMod val="85000"/>
                    <a:lumOff val="15000"/>
                  </a:schemeClr>
                </a:solidFill>
                <a:effectLst>
                  <a:reflection blurRad="6350" stA="55000" endA="50" endPos="85000" dist="60007" dir="5400000" sy="-100000" algn="bl" rotWithShape="0"/>
                </a:effectLst>
                <a:latin typeface="Times New Roman" panose="02020603050405020304" pitchFamily="18" charset="0"/>
                <a:cs typeface="Times New Roman" panose="02020603050405020304" pitchFamily="18" charset="0"/>
              </a:rPr>
              <a:t> </a:t>
            </a:r>
            <a:r>
              <a:rPr lang="en-US" sz="5800" b="1" i="1" dirty="0" err="1">
                <a:ln w="9525" cmpd="sng">
                  <a:solidFill>
                    <a:schemeClr val="tx1"/>
                  </a:solidFill>
                  <a:prstDash val="solid"/>
                </a:ln>
                <a:solidFill>
                  <a:schemeClr val="tx1">
                    <a:lumMod val="85000"/>
                    <a:lumOff val="15000"/>
                  </a:schemeClr>
                </a:solidFill>
                <a:effectLst>
                  <a:reflection blurRad="6350" stA="55000" endA="50" endPos="85000" dist="60007" dir="5400000" sy="-100000" algn="bl" rotWithShape="0"/>
                </a:effectLst>
                <a:latin typeface="Times New Roman" panose="02020603050405020304" pitchFamily="18" charset="0"/>
                <a:cs typeface="Times New Roman" panose="02020603050405020304" pitchFamily="18" charset="0"/>
              </a:rPr>
              <a:t>hỏi</a:t>
            </a:r>
            <a:r>
              <a:rPr lang="en-US" sz="5800" b="1" i="1" dirty="0">
                <a:ln w="9525" cmpd="sng">
                  <a:solidFill>
                    <a:schemeClr val="tx1"/>
                  </a:solidFill>
                  <a:prstDash val="solid"/>
                </a:ln>
                <a:solidFill>
                  <a:schemeClr val="tx1">
                    <a:lumMod val="85000"/>
                    <a:lumOff val="15000"/>
                  </a:schemeClr>
                </a:solidFill>
                <a:effectLst>
                  <a:reflection blurRad="6350" stA="55000" endA="50" endPos="85000" dist="60007" dir="5400000" sy="-100000" algn="bl" rotWithShape="0"/>
                </a:effectLst>
                <a:latin typeface="Times New Roman" panose="02020603050405020304" pitchFamily="18" charset="0"/>
                <a:cs typeface="Times New Roman" panose="02020603050405020304" pitchFamily="18" charset="0"/>
              </a:rPr>
              <a:t> </a:t>
            </a:r>
            <a:r>
              <a:rPr lang="en-US" sz="5800" b="1" i="1" dirty="0" err="1">
                <a:ln w="9525" cmpd="sng">
                  <a:solidFill>
                    <a:schemeClr val="tx1"/>
                  </a:solidFill>
                  <a:prstDash val="solid"/>
                </a:ln>
                <a:solidFill>
                  <a:schemeClr val="tx1">
                    <a:lumMod val="85000"/>
                    <a:lumOff val="15000"/>
                  </a:schemeClr>
                </a:solidFill>
                <a:effectLst>
                  <a:reflection blurRad="6350" stA="55000" endA="50" endPos="85000" dist="60007" dir="5400000" sy="-100000" algn="bl" rotWithShape="0"/>
                </a:effectLst>
                <a:latin typeface="Times New Roman" panose="02020603050405020304" pitchFamily="18" charset="0"/>
                <a:cs typeface="Times New Roman" panose="02020603050405020304" pitchFamily="18" charset="0"/>
              </a:rPr>
              <a:t>phản</a:t>
            </a:r>
            <a:r>
              <a:rPr lang="en-US" sz="5800" b="1" i="1" dirty="0">
                <a:ln w="9525" cmpd="sng">
                  <a:solidFill>
                    <a:schemeClr val="tx1"/>
                  </a:solidFill>
                  <a:prstDash val="solid"/>
                </a:ln>
                <a:solidFill>
                  <a:schemeClr val="tx1">
                    <a:lumMod val="85000"/>
                    <a:lumOff val="15000"/>
                  </a:schemeClr>
                </a:solidFill>
                <a:effectLst>
                  <a:reflection blurRad="6350" stA="55000" endA="50" endPos="85000" dist="60007" dir="5400000" sy="-100000" algn="bl" rotWithShape="0"/>
                </a:effectLst>
                <a:latin typeface="Times New Roman" panose="02020603050405020304" pitchFamily="18" charset="0"/>
                <a:cs typeface="Times New Roman" panose="02020603050405020304" pitchFamily="18" charset="0"/>
              </a:rPr>
              <a:t> </a:t>
            </a:r>
            <a:r>
              <a:rPr lang="en-US" sz="5800" b="1" i="1" dirty="0" err="1">
                <a:ln w="9525" cmpd="sng">
                  <a:solidFill>
                    <a:schemeClr val="tx1"/>
                  </a:solidFill>
                  <a:prstDash val="solid"/>
                </a:ln>
                <a:solidFill>
                  <a:schemeClr val="tx1">
                    <a:lumMod val="85000"/>
                    <a:lumOff val="15000"/>
                  </a:schemeClr>
                </a:solidFill>
                <a:effectLst>
                  <a:reflection blurRad="6350" stA="55000" endA="50" endPos="85000" dist="60007" dir="5400000" sy="-100000" algn="bl" rotWithShape="0"/>
                </a:effectLst>
                <a:latin typeface="Times New Roman" panose="02020603050405020304" pitchFamily="18" charset="0"/>
                <a:cs typeface="Times New Roman" panose="02020603050405020304" pitchFamily="18" charset="0"/>
              </a:rPr>
              <a:t>biện</a:t>
            </a:r>
            <a:r>
              <a:rPr lang="en-US" sz="5800" b="1" i="1" dirty="0">
                <a:ln w="9525" cmpd="sng">
                  <a:solidFill>
                    <a:schemeClr val="tx1"/>
                  </a:solidFill>
                  <a:prstDash val="solid"/>
                </a:ln>
                <a:solidFill>
                  <a:schemeClr val="tx1">
                    <a:lumMod val="85000"/>
                    <a:lumOff val="15000"/>
                  </a:schemeClr>
                </a:solidFill>
                <a:effectLst>
                  <a:reflection blurRad="6350" stA="55000" endA="50" endPos="85000" dist="60007" dir="5400000" sy="-100000" algn="bl" rotWithShape="0"/>
                </a:effectLst>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65522BA5-E203-9156-0706-02CE2C7CB0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9551" y="154745"/>
            <a:ext cx="2812449" cy="2650435"/>
          </a:xfrm>
          <a:prstGeom prst="ellipse">
            <a:avLst/>
          </a:prstGeom>
          <a:ln>
            <a:noFill/>
          </a:ln>
          <a:effectLst>
            <a:softEdge rad="112500"/>
          </a:effectLst>
        </p:spPr>
      </p:pic>
      <p:pic>
        <p:nvPicPr>
          <p:cNvPr id="8" name="Picture 7">
            <a:extLst>
              <a:ext uri="{FF2B5EF4-FFF2-40B4-BE49-F238E27FC236}">
                <a16:creationId xmlns:a16="http://schemas.microsoft.com/office/drawing/2014/main" id="{0FBAE0E4-DD2A-FA1E-A0A5-0AD948F80A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7873" y="2805180"/>
            <a:ext cx="4172532" cy="241546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scene3d>
            <a:camera prst="perspectiveBelow"/>
            <a:lightRig rig="threePt" dir="t"/>
          </a:scene3d>
        </p:spPr>
      </p:pic>
      <p:pic>
        <p:nvPicPr>
          <p:cNvPr id="10" name="Picture 9">
            <a:extLst>
              <a:ext uri="{FF2B5EF4-FFF2-40B4-BE49-F238E27FC236}">
                <a16:creationId xmlns:a16="http://schemas.microsoft.com/office/drawing/2014/main" id="{10172EDC-75AC-C743-A9FF-343AA6F81F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4731" y="4196351"/>
            <a:ext cx="4405049" cy="2415464"/>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softEdge rad="31750"/>
          </a:effectLst>
          <a:scene3d>
            <a:camera prst="perspectiveFront" fov="5400000"/>
            <a:lightRig rig="threePt" dir="t">
              <a:rot lat="0" lon="0" rev="19200000"/>
            </a:lightRig>
          </a:scene3d>
          <a:sp3d extrusionH="25400">
            <a:bevelT w="304800" h="152400" prst="slope"/>
            <a:extrusionClr>
              <a:srgbClr val="FFFFFF"/>
            </a:extrusionClr>
          </a:sp3d>
        </p:spPr>
      </p:pic>
    </p:spTree>
    <p:extLst>
      <p:ext uri="{BB962C8B-B14F-4D97-AF65-F5344CB8AC3E}">
        <p14:creationId xmlns:p14="http://schemas.microsoft.com/office/powerpoint/2010/main" val="2480397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10495-4A83-AFD4-D96C-6FA358FBF060}"/>
              </a:ext>
            </a:extLst>
          </p:cNvPr>
          <p:cNvSpPr>
            <a:spLocks noGrp="1"/>
          </p:cNvSpPr>
          <p:nvPr>
            <p:ph type="ctrTitle"/>
          </p:nvPr>
        </p:nvSpPr>
        <p:spPr>
          <a:xfrm>
            <a:off x="1524000" y="477079"/>
            <a:ext cx="9144000" cy="1497496"/>
          </a:xfrm>
        </p:spPr>
        <p:txBody>
          <a:bodyPr>
            <a:normAutofit/>
          </a:bodyPr>
          <a:lstStyle/>
          <a:p>
            <a:r>
              <a:rPr lang="en-US" sz="4800" b="1" dirty="0" err="1">
                <a:latin typeface="Times New Roman" panose="02020603050405020304" pitchFamily="18" charset="0"/>
                <a:cs typeface="Times New Roman" panose="02020603050405020304" pitchFamily="18" charset="0"/>
              </a:rPr>
              <a:t>Câu</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hỏi</a:t>
            </a:r>
            <a:r>
              <a:rPr lang="en-US" sz="4800" b="1" dirty="0">
                <a:latin typeface="Times New Roman" panose="02020603050405020304" pitchFamily="18" charset="0"/>
                <a:cs typeface="Times New Roman" panose="02020603050405020304" pitchFamily="18" charset="0"/>
              </a:rPr>
              <a:t> 1: </a:t>
            </a:r>
            <a:r>
              <a:rPr lang="en-US" sz="4800" dirty="0" err="1">
                <a:latin typeface="Times New Roman" panose="02020603050405020304" pitchFamily="18" charset="0"/>
                <a:cs typeface="Times New Roman" panose="02020603050405020304" pitchFamily="18" charset="0"/>
              </a:rPr>
              <a:t>Các</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yếu</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tố</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ảnh</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hưởng</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đến</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việc</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định</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vị</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sản</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phẩm</a:t>
            </a:r>
            <a:r>
              <a:rPr lang="en-US" sz="4800" dirty="0">
                <a:latin typeface="Times New Roman" panose="02020603050405020304" pitchFamily="18" charset="0"/>
                <a:cs typeface="Times New Roman" panose="02020603050405020304" pitchFamily="18" charset="0"/>
              </a:rPr>
              <a:t> ? </a:t>
            </a:r>
          </a:p>
        </p:txBody>
      </p:sp>
      <p:sp>
        <p:nvSpPr>
          <p:cNvPr id="4" name="Rectangle: Rounded Corners 3">
            <a:extLst>
              <a:ext uri="{FF2B5EF4-FFF2-40B4-BE49-F238E27FC236}">
                <a16:creationId xmlns:a16="http://schemas.microsoft.com/office/drawing/2014/main" id="{3AF1FBE1-0244-869A-DB4E-6D840C28475F}"/>
              </a:ext>
            </a:extLst>
          </p:cNvPr>
          <p:cNvSpPr/>
          <p:nvPr/>
        </p:nvSpPr>
        <p:spPr>
          <a:xfrm>
            <a:off x="1298712" y="2384200"/>
            <a:ext cx="2232274" cy="1497496"/>
          </a:xfrm>
          <a:prstGeom prst="roundRect">
            <a:avLst/>
          </a:prstGeom>
          <a:solidFill>
            <a:schemeClr val="accent2">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500" b="1" dirty="0" err="1">
                <a:latin typeface="Times New Roman" panose="02020603050405020304" pitchFamily="18" charset="0"/>
                <a:cs typeface="Times New Roman" panose="02020603050405020304" pitchFamily="18" charset="0"/>
              </a:rPr>
              <a:t>Khách</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hàng</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mục</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tiêu</a:t>
            </a:r>
            <a:endParaRPr lang="en-US" sz="2500" b="1" dirty="0">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0991CC3D-908B-11E2-65CF-B803CD38E47C}"/>
              </a:ext>
            </a:extLst>
          </p:cNvPr>
          <p:cNvSpPr/>
          <p:nvPr/>
        </p:nvSpPr>
        <p:spPr>
          <a:xfrm>
            <a:off x="4757530" y="2384200"/>
            <a:ext cx="2232274" cy="1497496"/>
          </a:xfrm>
          <a:prstGeom prst="roundRect">
            <a:avLst/>
          </a:prstGeom>
          <a:solidFill>
            <a:schemeClr val="accent2">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500" b="1" dirty="0" err="1">
                <a:latin typeface="Times New Roman" panose="02020603050405020304" pitchFamily="18" charset="0"/>
                <a:cs typeface="Times New Roman" panose="02020603050405020304" pitchFamily="18" charset="0"/>
              </a:rPr>
              <a:t>Định</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vị</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thương</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hiệu</a:t>
            </a:r>
            <a:endParaRPr lang="en-US" sz="2500" b="1" dirty="0">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A4602829-6C96-A4C9-9AB3-F1612230921F}"/>
              </a:ext>
            </a:extLst>
          </p:cNvPr>
          <p:cNvSpPr/>
          <p:nvPr/>
        </p:nvSpPr>
        <p:spPr>
          <a:xfrm>
            <a:off x="8216348" y="2384200"/>
            <a:ext cx="2332382" cy="1497496"/>
          </a:xfrm>
          <a:prstGeom prst="roundRect">
            <a:avLst/>
          </a:prstGeom>
          <a:solidFill>
            <a:schemeClr val="accent2">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500" b="1" dirty="0" err="1">
                <a:latin typeface="Times New Roman" panose="02020603050405020304" pitchFamily="18" charset="0"/>
                <a:cs typeface="Times New Roman" panose="02020603050405020304" pitchFamily="18" charset="0"/>
              </a:rPr>
              <a:t>Đối</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thủ</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cạnh</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tranh</a:t>
            </a:r>
            <a:endParaRPr lang="en-US" sz="2500" b="1" dirty="0">
              <a:latin typeface="Times New Roman" panose="02020603050405020304" pitchFamily="18"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CFE77EFE-0CEF-7587-92B3-1D923360358B}"/>
              </a:ext>
            </a:extLst>
          </p:cNvPr>
          <p:cNvSpPr/>
          <p:nvPr/>
        </p:nvSpPr>
        <p:spPr>
          <a:xfrm>
            <a:off x="2888974" y="4505739"/>
            <a:ext cx="2332383" cy="1497497"/>
          </a:xfrm>
          <a:prstGeom prst="roundRect">
            <a:avLst/>
          </a:prstGeom>
          <a:solidFill>
            <a:schemeClr val="accent2">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500" b="1" dirty="0">
                <a:latin typeface="Times New Roman" panose="02020603050405020304" pitchFamily="18" charset="0"/>
                <a:cs typeface="Times New Roman" panose="02020603050405020304" pitchFamily="18" charset="0"/>
              </a:rPr>
              <a:t>Xu </a:t>
            </a:r>
            <a:r>
              <a:rPr lang="en-US" sz="2500" b="1" dirty="0" err="1">
                <a:latin typeface="Times New Roman" panose="02020603050405020304" pitchFamily="18" charset="0"/>
                <a:cs typeface="Times New Roman" panose="02020603050405020304" pitchFamily="18" charset="0"/>
              </a:rPr>
              <a:t>hướng</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tiêu</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dùng</a:t>
            </a:r>
            <a:endParaRPr lang="en-US" sz="2500" b="1" dirty="0">
              <a:latin typeface="Times New Roman" panose="02020603050405020304" pitchFamily="18" charset="0"/>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B62BBFC4-C4A8-E62E-4212-EFCD297EFDC2}"/>
              </a:ext>
            </a:extLst>
          </p:cNvPr>
          <p:cNvSpPr/>
          <p:nvPr/>
        </p:nvSpPr>
        <p:spPr>
          <a:xfrm>
            <a:off x="6533320" y="4505739"/>
            <a:ext cx="2451654" cy="1497497"/>
          </a:xfrm>
          <a:prstGeom prst="roundRect">
            <a:avLst/>
          </a:prstGeom>
          <a:solidFill>
            <a:schemeClr val="accent2">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500" b="1" dirty="0" err="1">
                <a:latin typeface="Times New Roman" panose="02020603050405020304" pitchFamily="18" charset="0"/>
                <a:cs typeface="Times New Roman" panose="02020603050405020304" pitchFamily="18" charset="0"/>
              </a:rPr>
              <a:t>Chiến</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lược</a:t>
            </a:r>
            <a:r>
              <a:rPr lang="en-US" sz="2500" b="1" dirty="0">
                <a:latin typeface="Times New Roman" panose="02020603050405020304" pitchFamily="18" charset="0"/>
                <a:cs typeface="Times New Roman" panose="02020603050405020304" pitchFamily="18" charset="0"/>
              </a:rPr>
              <a:t> Marketing</a:t>
            </a:r>
          </a:p>
        </p:txBody>
      </p:sp>
    </p:spTree>
    <p:extLst>
      <p:ext uri="{BB962C8B-B14F-4D97-AF65-F5344CB8AC3E}">
        <p14:creationId xmlns:p14="http://schemas.microsoft.com/office/powerpoint/2010/main" val="477465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0A8FB-A5C8-374E-16BB-88C246FBB5D3}"/>
              </a:ext>
            </a:extLst>
          </p:cNvPr>
          <p:cNvSpPr>
            <a:spLocks noGrp="1"/>
          </p:cNvSpPr>
          <p:nvPr>
            <p:ph type="title"/>
          </p:nvPr>
        </p:nvSpPr>
        <p:spPr>
          <a:xfrm>
            <a:off x="838200" y="427382"/>
            <a:ext cx="10515600" cy="6321287"/>
          </a:xfrm>
        </p:spPr>
        <p:txBody>
          <a:bodyPr>
            <a:noAutofit/>
          </a:bodyPr>
          <a:lstStyle/>
          <a:p>
            <a:r>
              <a:rPr lang="en-US" sz="3200" b="1" dirty="0" err="1">
                <a:latin typeface="Times New Roman" panose="02020603050405020304" pitchFamily="18" charset="0"/>
                <a:cs typeface="Times New Roman" panose="02020603050405020304" pitchFamily="18" charset="0"/>
              </a:rPr>
              <a:t>Câu</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hỏi</a:t>
            </a:r>
            <a:r>
              <a:rPr lang="en-US" sz="3200" b="1" dirty="0">
                <a:latin typeface="Times New Roman" panose="02020603050405020304" pitchFamily="18" charset="0"/>
                <a:cs typeface="Times New Roman" panose="02020603050405020304" pitchFamily="18" charset="0"/>
              </a:rPr>
              <a:t> 2:</a:t>
            </a:r>
            <a:r>
              <a:rPr lang="vi-VN" sz="3200" b="1"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Định vị thương hiệu và định vị sản phẩm cái nào quan trọng hơn ? Tại sao?</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b="1" dirty="0" err="1">
                <a:latin typeface="Times New Roman" panose="02020603050405020304" pitchFamily="18" charset="0"/>
                <a:cs typeface="Times New Roman" panose="02020603050405020304" pitchFamily="18" charset="0"/>
              </a:rPr>
              <a:t>Câu</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hỏi</a:t>
            </a:r>
            <a:r>
              <a:rPr lang="en-US" sz="3200" b="1" dirty="0">
                <a:latin typeface="Times New Roman" panose="02020603050405020304" pitchFamily="18" charset="0"/>
                <a:cs typeface="Times New Roman" panose="02020603050405020304" pitchFamily="18" charset="0"/>
              </a:rPr>
              <a:t> 3: </a:t>
            </a:r>
            <a:r>
              <a:rPr lang="vi-VN" sz="3200" dirty="0">
                <a:latin typeface="Times New Roman" panose="02020603050405020304" pitchFamily="18" charset="0"/>
                <a:cs typeface="Times New Roman" panose="02020603050405020304" pitchFamily="18" charset="0"/>
              </a:rPr>
              <a:t>Các chiến lược định vị sản phẩm cho doanh nghiệp là gì?</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b="1" dirty="0" err="1">
                <a:latin typeface="Times New Roman" panose="02020603050405020304" pitchFamily="18" charset="0"/>
                <a:cs typeface="Times New Roman" panose="02020603050405020304" pitchFamily="18" charset="0"/>
              </a:rPr>
              <a:t>Câu</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hỏi</a:t>
            </a:r>
            <a:r>
              <a:rPr lang="en-US" sz="3200" b="1" dirty="0">
                <a:latin typeface="Times New Roman" panose="02020603050405020304" pitchFamily="18" charset="0"/>
                <a:cs typeface="Times New Roman" panose="02020603050405020304" pitchFamily="18" charset="0"/>
              </a:rPr>
              <a:t> 4: </a:t>
            </a:r>
            <a:r>
              <a:rPr lang="vi-VN" sz="3200" b="1"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Cách tốt nhất để phát triển chiến lược định vị sản phẩm là gì?</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b="1" dirty="0" err="1">
                <a:latin typeface="Times New Roman" panose="02020603050405020304" pitchFamily="18" charset="0"/>
                <a:cs typeface="Times New Roman" panose="02020603050405020304" pitchFamily="18" charset="0"/>
              </a:rPr>
              <a:t>Câu</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hỏi</a:t>
            </a:r>
            <a:r>
              <a:rPr lang="en-US" sz="3200" b="1" dirty="0">
                <a:latin typeface="Times New Roman" panose="02020603050405020304" pitchFamily="18" charset="0"/>
                <a:cs typeface="Times New Roman" panose="02020603050405020304" pitchFamily="18" charset="0"/>
              </a:rPr>
              <a:t> 5</a:t>
            </a: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 Cách tốt nhất để phát triển chiến lược định vị sản phẩm là gì?</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961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DC06B-81F0-2875-5FFF-3B68E680EC45}"/>
              </a:ext>
            </a:extLst>
          </p:cNvPr>
          <p:cNvSpPr>
            <a:spLocks noGrp="1"/>
          </p:cNvSpPr>
          <p:nvPr>
            <p:ph type="title"/>
          </p:nvPr>
        </p:nvSpPr>
        <p:spPr>
          <a:xfrm>
            <a:off x="838200" y="281353"/>
            <a:ext cx="10515600" cy="6358597"/>
          </a:xfrm>
        </p:spPr>
        <p:txBody>
          <a:bodyPr>
            <a:normAutofit/>
          </a:bodyPr>
          <a:lstStyle/>
          <a:p>
            <a:pPr algn="ctr"/>
            <a:r>
              <a:rPr lang="en-US" sz="2400" b="1" dirty="0" err="1">
                <a:latin typeface="Times New Roman" panose="02020603050405020304" pitchFamily="18" charset="0"/>
                <a:cs typeface="Times New Roman" panose="02020603050405020304" pitchFamily="18" charset="0"/>
              </a:rPr>
              <a:t>Câu</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hỏi</a:t>
            </a:r>
            <a:r>
              <a:rPr lang="en-US" sz="2400" b="1" dirty="0">
                <a:latin typeface="Times New Roman" panose="02020603050405020304" pitchFamily="18" charset="0"/>
                <a:cs typeface="Times New Roman" panose="02020603050405020304" pitchFamily="18" charset="0"/>
              </a:rPr>
              <a:t> 6: </a:t>
            </a:r>
            <a:r>
              <a:rPr lang="vi-VN" sz="2500" i="0" dirty="0">
                <a:effectLst/>
                <a:latin typeface="Times New Roman" panose="02020603050405020304" pitchFamily="18" charset="0"/>
                <a:cs typeface="Times New Roman" panose="02020603050405020304" pitchFamily="18" charset="0"/>
              </a:rPr>
              <a:t>Theo các bạn, vì sao có một số doanh nghiệp lớn đã có mặt trên thị trường và rất thành công trong một khoảng thời gian dài nhưng vẫn quyết định tái định vị thương hiệu. Vậy nếu chiến lược tái định vị thương hiệu thất bại, doanh nghiệp có bị ảnh hưởng gì hay không? Hãy đưa ra dẫn chứng?</a:t>
            </a:r>
            <a:r>
              <a:rPr lang="en-US" sz="2500" i="0" dirty="0">
                <a:effectLst/>
                <a:latin typeface="Times New Roman" panose="02020603050405020304" pitchFamily="18" charset="0"/>
                <a:cs typeface="Times New Roman" panose="02020603050405020304" pitchFamily="18" charset="0"/>
              </a:rPr>
              <a:t/>
            </a:r>
            <a:br>
              <a:rPr lang="en-US" sz="2500" i="0" dirty="0">
                <a:effectLst/>
                <a:latin typeface="Times New Roman" panose="02020603050405020304" pitchFamily="18" charset="0"/>
                <a:cs typeface="Times New Roman" panose="02020603050405020304" pitchFamily="18" charset="0"/>
              </a:rPr>
            </a:br>
            <a:r>
              <a:rPr lang="vi-VN" sz="3000" dirty="0">
                <a:latin typeface="Times New Roman" panose="02020603050405020304" pitchFamily="18" charset="0"/>
                <a:cs typeface="Times New Roman" panose="02020603050405020304" pitchFamily="18" charset="0"/>
              </a:rPr>
              <a:t/>
            </a:r>
            <a:br>
              <a:rPr lang="vi-VN"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            </a:t>
            </a:r>
            <a:r>
              <a:rPr lang="vi-VN" sz="3000" dirty="0">
                <a:latin typeface="Times New Roman" panose="02020603050405020304" pitchFamily="18" charset="0"/>
                <a:cs typeface="Times New Roman" panose="02020603050405020304" pitchFamily="18" charset="0"/>
              </a:rPr>
              <a:t>Một số lý do khiến các doanh nghiệp lớn đã có mặt trên thị trường và rất thành công trong một khoảng thời gian dài vẫn quyết định tái định vị thương hiệu</a:t>
            </a:r>
            <a:r>
              <a:rPr lang="en-US" sz="3000" dirty="0">
                <a:latin typeface="Times New Roman" panose="02020603050405020304" pitchFamily="18" charset="0"/>
                <a:cs typeface="Times New Roman" panose="02020603050405020304" pitchFamily="18" charset="0"/>
              </a:rPr>
              <a:t> </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
            </a:r>
            <a:br>
              <a:rPr lang="en-US" sz="3000" dirty="0">
                <a:latin typeface="Times New Roman" panose="02020603050405020304" pitchFamily="18" charset="0"/>
                <a:cs typeface="Times New Roman" panose="02020603050405020304" pitchFamily="18" charset="0"/>
              </a:rPr>
            </a:br>
            <a:r>
              <a:rPr lang="en-US" sz="3300" dirty="0">
                <a:latin typeface="Times New Roman" panose="02020603050405020304" pitchFamily="18" charset="0"/>
                <a:cs typeface="Times New Roman" panose="02020603050405020304" pitchFamily="18" charset="0"/>
              </a:rPr>
              <a:t/>
            </a:r>
            <a:br>
              <a:rPr lang="en-US" sz="3300" dirty="0">
                <a:latin typeface="Times New Roman" panose="02020603050405020304" pitchFamily="18" charset="0"/>
                <a:cs typeface="Times New Roman" panose="02020603050405020304" pitchFamily="18" charset="0"/>
              </a:rPr>
            </a:br>
            <a:endParaRPr lang="en-US" sz="3300"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284BD3D9-7337-0494-A380-DEDCD05AA15A}"/>
              </a:ext>
            </a:extLst>
          </p:cNvPr>
          <p:cNvSpPr/>
          <p:nvPr/>
        </p:nvSpPr>
        <p:spPr>
          <a:xfrm>
            <a:off x="811237" y="4346918"/>
            <a:ext cx="2241452" cy="1378634"/>
          </a:xfrm>
          <a:prstGeom prst="roundRect">
            <a:avLst/>
          </a:prstGeom>
          <a:solidFill>
            <a:schemeClr val="accent6">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t>Thay đổi thị trường và người tiêu dùng</a:t>
            </a:r>
            <a:endParaRPr lang="en-US" b="1" dirty="0"/>
          </a:p>
        </p:txBody>
      </p:sp>
      <p:sp>
        <p:nvSpPr>
          <p:cNvPr id="4" name="Rectangle: Rounded Corners 3">
            <a:extLst>
              <a:ext uri="{FF2B5EF4-FFF2-40B4-BE49-F238E27FC236}">
                <a16:creationId xmlns:a16="http://schemas.microsoft.com/office/drawing/2014/main" id="{04D975E3-AA56-D80B-8D8F-422A2F9595A9}"/>
              </a:ext>
            </a:extLst>
          </p:cNvPr>
          <p:cNvSpPr/>
          <p:nvPr/>
        </p:nvSpPr>
        <p:spPr>
          <a:xfrm>
            <a:off x="3530993" y="4346918"/>
            <a:ext cx="2321169" cy="1378634"/>
          </a:xfrm>
          <a:prstGeom prst="roundRect">
            <a:avLst/>
          </a:prstGeom>
          <a:solidFill>
            <a:schemeClr val="accent6">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t>Thương hiệu đã lỗi thời</a:t>
            </a:r>
            <a:endParaRPr lang="en-US" b="1" dirty="0"/>
          </a:p>
        </p:txBody>
      </p:sp>
      <p:sp>
        <p:nvSpPr>
          <p:cNvPr id="5" name="Rectangle: Rounded Corners 4">
            <a:extLst>
              <a:ext uri="{FF2B5EF4-FFF2-40B4-BE49-F238E27FC236}">
                <a16:creationId xmlns:a16="http://schemas.microsoft.com/office/drawing/2014/main" id="{0EE0E2D2-42E8-8DF0-BC24-108D07D0C801}"/>
              </a:ext>
            </a:extLst>
          </p:cNvPr>
          <p:cNvSpPr/>
          <p:nvPr/>
        </p:nvSpPr>
        <p:spPr>
          <a:xfrm>
            <a:off x="6302326" y="4346918"/>
            <a:ext cx="2321169" cy="1378633"/>
          </a:xfrm>
          <a:prstGeom prst="roundRect">
            <a:avLst/>
          </a:prstGeom>
          <a:solidFill>
            <a:schemeClr val="accent6">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t>Doanh nghiệp muốn mở rộng thị trường</a:t>
            </a:r>
            <a:endParaRPr lang="en-US" b="1" dirty="0"/>
          </a:p>
        </p:txBody>
      </p:sp>
      <p:sp>
        <p:nvSpPr>
          <p:cNvPr id="6" name="Rectangle: Rounded Corners 5">
            <a:extLst>
              <a:ext uri="{FF2B5EF4-FFF2-40B4-BE49-F238E27FC236}">
                <a16:creationId xmlns:a16="http://schemas.microsoft.com/office/drawing/2014/main" id="{B2193CAC-1E2B-4742-6041-32C2BA8D0AE3}"/>
              </a:ext>
            </a:extLst>
          </p:cNvPr>
          <p:cNvSpPr/>
          <p:nvPr/>
        </p:nvSpPr>
        <p:spPr>
          <a:xfrm>
            <a:off x="9059594" y="4346918"/>
            <a:ext cx="2321169" cy="1378633"/>
          </a:xfrm>
          <a:prstGeom prst="roundRect">
            <a:avLst/>
          </a:prstGeom>
          <a:solidFill>
            <a:schemeClr val="accent6">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err="1"/>
              <a:t>Doanh</a:t>
            </a:r>
            <a:r>
              <a:rPr lang="en-US" b="1" dirty="0"/>
              <a:t> </a:t>
            </a:r>
            <a:r>
              <a:rPr lang="en-US" b="1" dirty="0" err="1"/>
              <a:t>nghiệp</a:t>
            </a:r>
            <a:r>
              <a:rPr lang="en-US" b="1" dirty="0"/>
              <a:t> </a:t>
            </a:r>
            <a:r>
              <a:rPr lang="en-US" b="1" dirty="0" err="1"/>
              <a:t>muốn</a:t>
            </a:r>
            <a:r>
              <a:rPr lang="en-US" b="1" dirty="0"/>
              <a:t> </a:t>
            </a:r>
            <a:r>
              <a:rPr lang="en-US" b="1" dirty="0" err="1"/>
              <a:t>cạnh</a:t>
            </a:r>
            <a:r>
              <a:rPr lang="en-US" b="1" dirty="0"/>
              <a:t> </a:t>
            </a:r>
            <a:r>
              <a:rPr lang="en-US" b="1" dirty="0" err="1"/>
              <a:t>tranh</a:t>
            </a:r>
            <a:r>
              <a:rPr lang="en-US" b="1" dirty="0"/>
              <a:t> </a:t>
            </a:r>
            <a:r>
              <a:rPr lang="en-US" b="1" dirty="0" err="1"/>
              <a:t>với</a:t>
            </a:r>
            <a:r>
              <a:rPr lang="en-US" b="1" dirty="0"/>
              <a:t> </a:t>
            </a:r>
            <a:r>
              <a:rPr lang="en-US" b="1" dirty="0" err="1"/>
              <a:t>đối</a:t>
            </a:r>
            <a:r>
              <a:rPr lang="en-US" b="1" dirty="0"/>
              <a:t> </a:t>
            </a:r>
            <a:r>
              <a:rPr lang="en-US" b="1" dirty="0" err="1"/>
              <a:t>thủ</a:t>
            </a:r>
            <a:endParaRPr lang="en-US" b="1" dirty="0"/>
          </a:p>
        </p:txBody>
      </p:sp>
    </p:spTree>
    <p:extLst>
      <p:ext uri="{BB962C8B-B14F-4D97-AF65-F5344CB8AC3E}">
        <p14:creationId xmlns:p14="http://schemas.microsoft.com/office/powerpoint/2010/main" val="3135002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97D8F-8409-B50F-9DE2-600BD5D8369F}"/>
              </a:ext>
            </a:extLst>
          </p:cNvPr>
          <p:cNvSpPr>
            <a:spLocks noGrp="1"/>
          </p:cNvSpPr>
          <p:nvPr>
            <p:ph type="title"/>
          </p:nvPr>
        </p:nvSpPr>
        <p:spPr>
          <a:xfrm>
            <a:off x="958459" y="893813"/>
            <a:ext cx="9873664" cy="1146004"/>
          </a:xfrm>
        </p:spPr>
        <p:txBody>
          <a:bodyPr>
            <a:normAutofit/>
          </a:bodyPr>
          <a:lstStyle/>
          <a:p>
            <a:pPr algn="ctr"/>
            <a:r>
              <a:rPr lang="en-US" sz="3800" dirty="0"/>
              <a:t>     </a:t>
            </a:r>
            <a:r>
              <a:rPr lang="vi-VN" sz="3800" dirty="0"/>
              <a:t>Hậu quả của chiến lược tái định vị thương hiệu thất bại</a:t>
            </a:r>
            <a:endParaRPr lang="en-US" sz="3800" dirty="0"/>
          </a:p>
        </p:txBody>
      </p:sp>
      <p:sp>
        <p:nvSpPr>
          <p:cNvPr id="3" name="Text Placeholder 2">
            <a:extLst>
              <a:ext uri="{FF2B5EF4-FFF2-40B4-BE49-F238E27FC236}">
                <a16:creationId xmlns:a16="http://schemas.microsoft.com/office/drawing/2014/main" id="{4FC75453-171D-78F6-1663-6B202BA805DF}"/>
              </a:ext>
            </a:extLst>
          </p:cNvPr>
          <p:cNvSpPr>
            <a:spLocks noGrp="1"/>
          </p:cNvSpPr>
          <p:nvPr>
            <p:ph type="body" idx="1"/>
          </p:nvPr>
        </p:nvSpPr>
        <p:spPr>
          <a:xfrm>
            <a:off x="831850" y="2419643"/>
            <a:ext cx="9704852" cy="3670007"/>
          </a:xfrm>
        </p:spPr>
        <p:txBody>
          <a:bodyPr/>
          <a:lstStyle/>
          <a:p>
            <a:endParaRPr lang="en-US" dirty="0"/>
          </a:p>
          <a:p>
            <a:endParaRPr lang="en-US" dirty="0"/>
          </a:p>
          <a:p>
            <a:endParaRPr lang="en-US" sz="3800" dirty="0">
              <a:solidFill>
                <a:schemeClr val="tx1"/>
              </a:solidFill>
              <a:latin typeface="+mj-lt"/>
            </a:endParaRPr>
          </a:p>
        </p:txBody>
      </p:sp>
      <p:sp>
        <p:nvSpPr>
          <p:cNvPr id="4" name="Rectangle: Rounded Corners 3">
            <a:extLst>
              <a:ext uri="{FF2B5EF4-FFF2-40B4-BE49-F238E27FC236}">
                <a16:creationId xmlns:a16="http://schemas.microsoft.com/office/drawing/2014/main" id="{F0F9194C-FC10-6128-E2D6-B02113E3BCC2}"/>
              </a:ext>
            </a:extLst>
          </p:cNvPr>
          <p:cNvSpPr/>
          <p:nvPr/>
        </p:nvSpPr>
        <p:spPr>
          <a:xfrm>
            <a:off x="1655298" y="2560320"/>
            <a:ext cx="3770142" cy="1146004"/>
          </a:xfrm>
          <a:prstGeom prst="roundRect">
            <a:avLst/>
          </a:prstGeom>
          <a:solidFill>
            <a:schemeClr val="accent6">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2500" b="1" dirty="0" err="1">
                <a:latin typeface="Times New Roman" panose="02020603050405020304" pitchFamily="18" charset="0"/>
                <a:ea typeface="Tahoma" panose="020B0604030504040204" pitchFamily="34" charset="0"/>
                <a:cs typeface="Times New Roman" panose="02020603050405020304" pitchFamily="18" charset="0"/>
              </a:rPr>
              <a:t>Mất</a:t>
            </a:r>
            <a:r>
              <a:rPr lang="en-US" sz="2500" b="1" dirty="0">
                <a:latin typeface="Times New Roman" panose="02020603050405020304" pitchFamily="18" charset="0"/>
                <a:ea typeface="Tahoma" panose="020B0604030504040204" pitchFamily="34" charset="0"/>
                <a:cs typeface="Times New Roman" panose="02020603050405020304" pitchFamily="18" charset="0"/>
              </a:rPr>
              <a:t> </a:t>
            </a:r>
            <a:r>
              <a:rPr lang="en-US" sz="2500" b="1" dirty="0" err="1">
                <a:latin typeface="Times New Roman" panose="02020603050405020304" pitchFamily="18" charset="0"/>
                <a:ea typeface="Tahoma" panose="020B0604030504040204" pitchFamily="34" charset="0"/>
                <a:cs typeface="Times New Roman" panose="02020603050405020304" pitchFamily="18" charset="0"/>
              </a:rPr>
              <a:t>lòng</a:t>
            </a:r>
            <a:r>
              <a:rPr lang="en-US" sz="2500" b="1" dirty="0">
                <a:latin typeface="Times New Roman" panose="02020603050405020304" pitchFamily="18" charset="0"/>
                <a:ea typeface="Tahoma" panose="020B0604030504040204" pitchFamily="34" charset="0"/>
                <a:cs typeface="Times New Roman" panose="02020603050405020304" pitchFamily="18" charset="0"/>
              </a:rPr>
              <a:t> tin </a:t>
            </a:r>
            <a:r>
              <a:rPr lang="en-US" sz="2500" b="1" dirty="0" err="1">
                <a:latin typeface="Times New Roman" panose="02020603050405020304" pitchFamily="18" charset="0"/>
                <a:ea typeface="Tahoma" panose="020B0604030504040204" pitchFamily="34" charset="0"/>
                <a:cs typeface="Times New Roman" panose="02020603050405020304" pitchFamily="18" charset="0"/>
              </a:rPr>
              <a:t>của</a:t>
            </a:r>
            <a:r>
              <a:rPr lang="en-US" sz="2500" b="1" dirty="0">
                <a:latin typeface="Times New Roman" panose="02020603050405020304" pitchFamily="18" charset="0"/>
                <a:ea typeface="Tahoma" panose="020B0604030504040204" pitchFamily="34" charset="0"/>
                <a:cs typeface="Times New Roman" panose="02020603050405020304" pitchFamily="18" charset="0"/>
              </a:rPr>
              <a:t> </a:t>
            </a:r>
            <a:r>
              <a:rPr lang="en-US" sz="2500" b="1" dirty="0" err="1">
                <a:latin typeface="Times New Roman" panose="02020603050405020304" pitchFamily="18" charset="0"/>
                <a:ea typeface="Tahoma" panose="020B0604030504040204" pitchFamily="34" charset="0"/>
                <a:cs typeface="Times New Roman" panose="02020603050405020304" pitchFamily="18" charset="0"/>
              </a:rPr>
              <a:t>khách</a:t>
            </a:r>
            <a:r>
              <a:rPr lang="en-US" sz="2500" b="1" dirty="0">
                <a:latin typeface="Times New Roman" panose="02020603050405020304" pitchFamily="18" charset="0"/>
                <a:ea typeface="Tahoma" panose="020B0604030504040204" pitchFamily="34" charset="0"/>
                <a:cs typeface="Times New Roman" panose="02020603050405020304" pitchFamily="18" charset="0"/>
              </a:rPr>
              <a:t> </a:t>
            </a:r>
            <a:r>
              <a:rPr lang="en-US" sz="2500" b="1" dirty="0" err="1">
                <a:latin typeface="Times New Roman" panose="02020603050405020304" pitchFamily="18" charset="0"/>
                <a:ea typeface="Tahoma" panose="020B0604030504040204" pitchFamily="34" charset="0"/>
                <a:cs typeface="Times New Roman" panose="02020603050405020304" pitchFamily="18" charset="0"/>
              </a:rPr>
              <a:t>hàng</a:t>
            </a:r>
            <a:endParaRPr lang="en-US" sz="25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0AF9FEB5-7667-089F-1A64-5DE244875865}"/>
              </a:ext>
            </a:extLst>
          </p:cNvPr>
          <p:cNvSpPr/>
          <p:nvPr/>
        </p:nvSpPr>
        <p:spPr>
          <a:xfrm>
            <a:off x="1655298" y="4597791"/>
            <a:ext cx="3770142" cy="1146004"/>
          </a:xfrm>
          <a:prstGeom prst="roundRect">
            <a:avLst/>
          </a:prstGeom>
          <a:solidFill>
            <a:schemeClr val="accent6">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vi-VN" sz="2500" b="1" dirty="0">
                <a:latin typeface="Times New Roman" panose="02020603050405020304" pitchFamily="18" charset="0"/>
                <a:cs typeface="Times New Roman" panose="02020603050405020304" pitchFamily="18" charset="0"/>
              </a:rPr>
              <a:t>Mất chi phí đầu tư</a:t>
            </a:r>
            <a:endParaRPr lang="en-US" sz="2500" b="1" dirty="0">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3FC8E0A6-1151-FDB9-E3D0-3A596C1606BA}"/>
              </a:ext>
            </a:extLst>
          </p:cNvPr>
          <p:cNvSpPr/>
          <p:nvPr/>
        </p:nvSpPr>
        <p:spPr>
          <a:xfrm>
            <a:off x="7061981" y="2560320"/>
            <a:ext cx="3770142" cy="1146004"/>
          </a:xfrm>
          <a:prstGeom prst="roundRect">
            <a:avLst/>
          </a:prstGeom>
          <a:solidFill>
            <a:schemeClr val="accent6">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2500" b="1" dirty="0" err="1">
                <a:latin typeface="Times New Roman" panose="02020603050405020304" pitchFamily="18" charset="0"/>
                <a:cs typeface="Times New Roman" panose="02020603050405020304" pitchFamily="18" charset="0"/>
              </a:rPr>
              <a:t>Mất</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thị</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phần</a:t>
            </a:r>
            <a:endParaRPr lang="en-US" sz="2500" b="1" dirty="0">
              <a:latin typeface="Times New Roman" panose="02020603050405020304" pitchFamily="18"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AA8539EF-A179-DB97-CC2C-8997E14608F8}"/>
              </a:ext>
            </a:extLst>
          </p:cNvPr>
          <p:cNvSpPr/>
          <p:nvPr/>
        </p:nvSpPr>
        <p:spPr>
          <a:xfrm>
            <a:off x="7061981" y="4471182"/>
            <a:ext cx="3770142" cy="1146004"/>
          </a:xfrm>
          <a:prstGeom prst="roundRect">
            <a:avLst/>
          </a:prstGeom>
          <a:solidFill>
            <a:schemeClr val="accent6">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2500" b="1" dirty="0" err="1">
                <a:latin typeface="Times New Roman" panose="02020603050405020304" pitchFamily="18" charset="0"/>
                <a:cs typeface="Times New Roman" panose="02020603050405020304" pitchFamily="18" charset="0"/>
              </a:rPr>
              <a:t>Tổn</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thất</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về</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danh</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tiếng</a:t>
            </a:r>
            <a:endParaRPr lang="en-US" sz="2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129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7C857-2A60-6A1A-21EB-8886AB10E4F8}"/>
              </a:ext>
            </a:extLst>
          </p:cNvPr>
          <p:cNvSpPr>
            <a:spLocks noGrp="1"/>
          </p:cNvSpPr>
          <p:nvPr>
            <p:ph type="title"/>
          </p:nvPr>
        </p:nvSpPr>
        <p:spPr>
          <a:xfrm>
            <a:off x="838200" y="365126"/>
            <a:ext cx="10515600" cy="1730960"/>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M</a:t>
            </a:r>
            <a:r>
              <a:rPr lang="vi-VN" dirty="0">
                <a:latin typeface="Times New Roman" panose="02020603050405020304" pitchFamily="18" charset="0"/>
                <a:cs typeface="Times New Roman" panose="02020603050405020304" pitchFamily="18" charset="0"/>
              </a:rPr>
              <a:t>ột số dẫn chứng về các doanh nghiệp lớn đã thất bại trong chiến lược tái định vị thương hiệu</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1C8CDF1-FCA5-B0D5-0236-165BE7202E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673" y="2670833"/>
            <a:ext cx="3760173" cy="2377480"/>
          </a:xfrm>
          <a:prstGeom prst="rect">
            <a:avLst/>
          </a:prstGeom>
        </p:spPr>
      </p:pic>
      <p:pic>
        <p:nvPicPr>
          <p:cNvPr id="6" name="Picture 5">
            <a:extLst>
              <a:ext uri="{FF2B5EF4-FFF2-40B4-BE49-F238E27FC236}">
                <a16:creationId xmlns:a16="http://schemas.microsoft.com/office/drawing/2014/main" id="{E1B1C2C9-7A66-1569-7A00-9888F3955B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3527" y="2496516"/>
            <a:ext cx="3467584" cy="2581635"/>
          </a:xfrm>
          <a:prstGeom prst="rect">
            <a:avLst/>
          </a:prstGeom>
        </p:spPr>
      </p:pic>
      <p:pic>
        <p:nvPicPr>
          <p:cNvPr id="8" name="Picture 7">
            <a:extLst>
              <a:ext uri="{FF2B5EF4-FFF2-40B4-BE49-F238E27FC236}">
                <a16:creationId xmlns:a16="http://schemas.microsoft.com/office/drawing/2014/main" id="{A0985A9A-7D6F-2016-96B2-6A55109DEE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59500" y="2656053"/>
            <a:ext cx="3150827" cy="2262562"/>
          </a:xfrm>
          <a:prstGeom prst="rect">
            <a:avLst/>
          </a:prstGeom>
        </p:spPr>
      </p:pic>
      <p:sp>
        <p:nvSpPr>
          <p:cNvPr id="11" name="Rectangle 10">
            <a:extLst>
              <a:ext uri="{FF2B5EF4-FFF2-40B4-BE49-F238E27FC236}">
                <a16:creationId xmlns:a16="http://schemas.microsoft.com/office/drawing/2014/main" id="{60354B96-0183-5F0B-60E5-B9C8073DB29B}"/>
              </a:ext>
            </a:extLst>
          </p:cNvPr>
          <p:cNvSpPr/>
          <p:nvPr/>
        </p:nvSpPr>
        <p:spPr>
          <a:xfrm>
            <a:off x="1278547" y="5767748"/>
            <a:ext cx="2166423" cy="66885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b="1" i="0" dirty="0">
                <a:solidFill>
                  <a:srgbClr val="081C36"/>
                </a:solidFill>
                <a:effectLst/>
                <a:latin typeface="Times New Roman" panose="02020603050405020304" pitchFamily="18" charset="0"/>
                <a:cs typeface="Times New Roman" panose="02020603050405020304" pitchFamily="18" charset="0"/>
              </a:rPr>
              <a:t>Tropicana</a:t>
            </a:r>
            <a:endParaRPr lang="en-US" sz="2300" b="1" dirty="0">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980C8912-9D71-17D4-E61F-A4C079A209A3}"/>
              </a:ext>
            </a:extLst>
          </p:cNvPr>
          <p:cNvSpPr/>
          <p:nvPr/>
        </p:nvSpPr>
        <p:spPr>
          <a:xfrm>
            <a:off x="5454107" y="5767748"/>
            <a:ext cx="2166423" cy="66885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b="1" i="0" dirty="0">
                <a:solidFill>
                  <a:srgbClr val="081C36"/>
                </a:solidFill>
                <a:effectLst/>
                <a:latin typeface="Times New Roman" panose="02020603050405020304" pitchFamily="18" charset="0"/>
                <a:cs typeface="Times New Roman" panose="02020603050405020304" pitchFamily="18" charset="0"/>
              </a:rPr>
              <a:t>Coca-Cola</a:t>
            </a:r>
            <a:endParaRPr lang="en-US" sz="2300" b="1"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06EF1B1F-99A0-C18B-E32C-519FD8B66729}"/>
              </a:ext>
            </a:extLst>
          </p:cNvPr>
          <p:cNvSpPr/>
          <p:nvPr/>
        </p:nvSpPr>
        <p:spPr>
          <a:xfrm>
            <a:off x="9051701" y="5795882"/>
            <a:ext cx="2166423" cy="66885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b="1" i="0" dirty="0">
                <a:solidFill>
                  <a:srgbClr val="081C36"/>
                </a:solidFill>
                <a:effectLst/>
                <a:latin typeface="Times New Roman" panose="02020603050405020304" pitchFamily="18" charset="0"/>
                <a:cs typeface="Times New Roman" panose="02020603050405020304" pitchFamily="18" charset="0"/>
              </a:rPr>
              <a:t>Vegemite</a:t>
            </a:r>
            <a:endParaRPr lang="en-US" sz="23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9814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86979-9F5C-DDBE-8CE8-DBC2093391EE}"/>
              </a:ext>
            </a:extLst>
          </p:cNvPr>
          <p:cNvSpPr>
            <a:spLocks noGrp="1"/>
          </p:cNvSpPr>
          <p:nvPr>
            <p:ph type="title"/>
          </p:nvPr>
        </p:nvSpPr>
        <p:spPr>
          <a:xfrm>
            <a:off x="838200" y="365125"/>
            <a:ext cx="10515600" cy="6162284"/>
          </a:xfrm>
        </p:spPr>
        <p:txBody>
          <a:bodyPr/>
          <a:lstStyle/>
          <a:p>
            <a:r>
              <a:rPr lang="en-US" sz="4400" b="1">
                <a:latin typeface="Times New Roman" panose="02020603050405020304" pitchFamily="18" charset="0"/>
                <a:cs typeface="Times New Roman" panose="02020603050405020304" pitchFamily="18" charset="0"/>
              </a:rPr>
              <a:t>Câu hỏi 7: </a:t>
            </a:r>
            <a:r>
              <a:rPr lang="vi-VN" sz="4400" i="0">
                <a:effectLst/>
                <a:latin typeface="Times New Roman" panose="02020603050405020304" pitchFamily="18" charset="0"/>
                <a:cs typeface="Times New Roman" panose="02020603050405020304" pitchFamily="18" charset="0"/>
              </a:rPr>
              <a:t>Làm thế nào để duy trì và phát triển định vị thương hiệu qua thời gian? </a:t>
            </a:r>
            <a:r>
              <a:rPr lang="en-US" sz="4400" i="0">
                <a:effectLst/>
                <a:latin typeface="Times New Roman" panose="02020603050405020304" pitchFamily="18" charset="0"/>
                <a:cs typeface="Times New Roman" panose="02020603050405020304" pitchFamily="18" charset="0"/>
              </a:rPr>
              <a:t/>
            </a:r>
            <a:br>
              <a:rPr lang="en-US" sz="4400" i="0">
                <a:effectLst/>
                <a:latin typeface="Times New Roman" panose="02020603050405020304" pitchFamily="18" charset="0"/>
                <a:cs typeface="Times New Roman" panose="02020603050405020304" pitchFamily="18" charset="0"/>
              </a:rPr>
            </a:br>
            <a:r>
              <a:rPr lang="en-US" sz="4400" b="1" i="0">
                <a:effectLst/>
                <a:latin typeface="Times New Roman" panose="02020603050405020304" pitchFamily="18" charset="0"/>
                <a:cs typeface="Times New Roman" panose="02020603050405020304" pitchFamily="18" charset="0"/>
              </a:rPr>
              <a:t/>
            </a:r>
            <a:br>
              <a:rPr lang="en-US" sz="4400" b="1" i="0">
                <a:effectLst/>
                <a:latin typeface="Times New Roman" panose="02020603050405020304" pitchFamily="18" charset="0"/>
                <a:cs typeface="Times New Roman" panose="02020603050405020304" pitchFamily="18" charset="0"/>
              </a:rPr>
            </a:br>
            <a:r>
              <a:rPr lang="en-US" sz="4400" b="1" i="0">
                <a:effectLst/>
                <a:latin typeface="Times New Roman" panose="02020603050405020304" pitchFamily="18" charset="0"/>
                <a:cs typeface="Times New Roman" panose="02020603050405020304" pitchFamily="18" charset="0"/>
              </a:rPr>
              <a:t>Câu hỏi 8:</a:t>
            </a:r>
            <a:r>
              <a:rPr lang="vi-VN" sz="4400" b="1" i="0">
                <a:effectLst/>
                <a:latin typeface="Times New Roman" panose="02020603050405020304" pitchFamily="18" charset="0"/>
                <a:cs typeface="Times New Roman" panose="02020603050405020304" pitchFamily="18" charset="0"/>
              </a:rPr>
              <a:t> </a:t>
            </a:r>
            <a:r>
              <a:rPr lang="vi-VN" sz="4400" i="0">
                <a:effectLst/>
                <a:latin typeface="Times New Roman" panose="02020603050405020304" pitchFamily="18" charset="0"/>
                <a:cs typeface="Times New Roman" panose="02020603050405020304" pitchFamily="18" charset="0"/>
              </a:rPr>
              <a:t>Làm thế nào để thương hiệu tương tác với cộng đồng trực tuyến?</a:t>
            </a:r>
            <a:endParaRPr lang="en-US" dirty="0"/>
          </a:p>
        </p:txBody>
      </p:sp>
    </p:spTree>
    <p:extLst>
      <p:ext uri="{BB962C8B-B14F-4D97-AF65-F5344CB8AC3E}">
        <p14:creationId xmlns:p14="http://schemas.microsoft.com/office/powerpoint/2010/main" val="1898746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360</Words>
  <Application>Microsoft Office PowerPoint</Application>
  <PresentationFormat>Widescreen</PresentationFormat>
  <Paragraphs>24</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Tahoma</vt:lpstr>
      <vt:lpstr>Times New Roman</vt:lpstr>
      <vt:lpstr>Office Theme</vt:lpstr>
      <vt:lpstr>    Các câu hỏi phản biện </vt:lpstr>
      <vt:lpstr>Câu hỏi 1: Các yếu tố ảnh hưởng đến việc định vị sản phẩm ? </vt:lpstr>
      <vt:lpstr>Câu hỏi 2: Định vị thương hiệu và định vị sản phẩm cái nào quan trọng hơn ? Tại sao?  Câu hỏi 3: Các chiến lược định vị sản phẩm cho doanh nghiệp là gì?  Câu hỏi 4:  Cách tốt nhất để phát triển chiến lược định vị sản phẩm là gì?  Câu hỏi 5:  Cách tốt nhất để phát triển chiến lược định vị sản phẩm là gì? </vt:lpstr>
      <vt:lpstr>Câu hỏi 6: Theo các bạn, vì sao có một số doanh nghiệp lớn đã có mặt trên thị trường và rất thành công trong một khoảng thời gian dài nhưng vẫn quyết định tái định vị thương hiệu. Vậy nếu chiến lược tái định vị thương hiệu thất bại, doanh nghiệp có bị ảnh hưởng gì hay không? Hãy đưa ra dẫn chứng?              Một số lý do khiến các doanh nghiệp lớn đã có mặt trên thị trường và rất thành công trong một khoảng thời gian dài vẫn quyết định tái định vị thương hiệu     </vt:lpstr>
      <vt:lpstr>     Hậu quả của chiến lược tái định vị thương hiệu thất bại</vt:lpstr>
      <vt:lpstr>Một số dẫn chứng về các doanh nghiệp lớn đã thất bại trong chiến lược tái định vị thương hiệu</vt:lpstr>
      <vt:lpstr>Câu hỏi 7: Làm thế nào để duy trì và phát triển định vị thương hiệu qua thời gian?   Câu hỏi 8: Làm thế nào để thương hiệu tương tác với cộng đồng trực tuyến?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Phạm Bá Dương</cp:lastModifiedBy>
  <cp:revision>4</cp:revision>
  <dcterms:created xsi:type="dcterms:W3CDTF">2023-12-12T12:40:17Z</dcterms:created>
  <dcterms:modified xsi:type="dcterms:W3CDTF">2023-12-12T15:09:19Z</dcterms:modified>
</cp:coreProperties>
</file>