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7" r:id="rId1"/>
  </p:sldMasterIdLst>
  <p:sldIdLst>
    <p:sldId id="256" r:id="rId2"/>
    <p:sldId id="260" r:id="rId3"/>
    <p:sldId id="275" r:id="rId4"/>
    <p:sldId id="259" r:id="rId5"/>
    <p:sldId id="277" r:id="rId6"/>
    <p:sldId id="263" r:id="rId7"/>
    <p:sldId id="278" r:id="rId8"/>
    <p:sldId id="258" r:id="rId9"/>
    <p:sldId id="264" r:id="rId10"/>
    <p:sldId id="266" r:id="rId11"/>
    <p:sldId id="267" r:id="rId12"/>
    <p:sldId id="268" r:id="rId13"/>
    <p:sldId id="269" r:id="rId14"/>
    <p:sldId id="270" r:id="rId15"/>
    <p:sldId id="271" r:id="rId16"/>
    <p:sldId id="265" r:id="rId17"/>
    <p:sldId id="272" r:id="rId18"/>
    <p:sldId id="281" r:id="rId19"/>
    <p:sldId id="280"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68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6803" autoAdjust="0"/>
  </p:normalViewPr>
  <p:slideViewPr>
    <p:cSldViewPr snapToGrid="0">
      <p:cViewPr varScale="1">
        <p:scale>
          <a:sx n="83" d="100"/>
          <a:sy n="83" d="100"/>
        </p:scale>
        <p:origin x="595" y="77"/>
      </p:cViewPr>
      <p:guideLst>
        <p:guide pos="768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A430C0A-5464-4FE4-84EB-FF9C94016DF4}"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945578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70A7B3-6521-4DCA-87E5-044747A908C1}"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839801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0C6404-AD6E-4860-8E75-697CA40B95DA}"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75432114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B134690-1557-4C89-A502-4959FE7FAD70}" type="datetimeFigureOut">
              <a:rPr lang="en-US" smtClean="0"/>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227029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60EA64-D806-43AC-9DF2-F8C432F32B4C}" type="datetimeFigureOut">
              <a:rPr lang="en-US" smtClean="0"/>
              <a:t>4/14/2024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688212773"/>
      </p:ext>
    </p:extLst>
  </p:cSld>
  <p:clrMapOvr>
    <a:masterClrMapping/>
  </p:clrMapOvr>
  <p:timing>
    <p:tnLst>
      <p:par>
        <p:cTn id="1" dur="indefinite" restart="never" nodeType="tmRoot"/>
      </p:par>
    </p:tn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1037C31-9E7A-4F99-8774-A0E530DE1A42}" type="datetimeFigureOut">
              <a:rPr lang="en-US" smtClean="0"/>
              <a:t>4/14/2024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16511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4/14/2024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1246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82473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427679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F9C37B-1D36-470B-8223-D6C91242EC14}"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01643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C6F52A-A82B-47A2-A83A-8C4C91F2D59F}"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813619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60EA64-D806-43AC-9DF2-F8C432F32B4C}" type="datetimeFigureOut">
              <a:rPr lang="en-US" smtClean="0"/>
              <a:t>4/14/2024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880303364"/>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605445"/>
            <a:ext cx="8991600" cy="1645920"/>
          </a:xfrm>
        </p:spPr>
        <p:txBody>
          <a:bodyPr anchor="ctr"/>
          <a:lstStyle/>
          <a:p>
            <a:r>
              <a:rPr lang="en-US" dirty="0" smtClean="0"/>
              <a:t>BÁO CÁO NHÓM 2</a:t>
            </a:r>
            <a:endParaRPr lang="en-US" dirty="0"/>
          </a:p>
        </p:txBody>
      </p:sp>
      <p:sp>
        <p:nvSpPr>
          <p:cNvPr id="3" name="Subtitle 2"/>
          <p:cNvSpPr>
            <a:spLocks noGrp="1"/>
          </p:cNvSpPr>
          <p:nvPr>
            <p:ph type="subTitle" idx="1"/>
          </p:nvPr>
        </p:nvSpPr>
        <p:spPr>
          <a:xfrm>
            <a:off x="2695194" y="3426032"/>
            <a:ext cx="6801612" cy="932212"/>
          </a:xfrm>
          <a:ln>
            <a:solidFill>
              <a:schemeClr val="tx1"/>
            </a:solidFill>
          </a:ln>
        </p:spPr>
        <p:txBody>
          <a:bodyPr/>
          <a:lstStyle/>
          <a:p>
            <a:r>
              <a:rPr lang="en-US" dirty="0" smtClean="0"/>
              <a:t>ĐỀ TÀI</a:t>
            </a:r>
            <a:r>
              <a:rPr lang="en-US" dirty="0"/>
              <a:t>: Hệ thống quản lí khách hàng sử dụng dịch vụ dịch </a:t>
            </a:r>
            <a:r>
              <a:rPr lang="en-US" dirty="0" smtClean="0"/>
              <a:t>thuật RPC</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7862019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605445"/>
            <a:ext cx="8991600" cy="1645920"/>
          </a:xfrm>
        </p:spPr>
        <p:txBody>
          <a:bodyPr anchor="ctr"/>
          <a:lstStyle/>
          <a:p>
            <a:r>
              <a:rPr lang="en-US" dirty="0" smtClean="0"/>
              <a:t>Danh sách thành viên</a:t>
            </a:r>
            <a:endParaRPr lang="en-US" dirty="0"/>
          </a:p>
        </p:txBody>
      </p:sp>
      <p:sp>
        <p:nvSpPr>
          <p:cNvPr id="3" name="Subtitle 2"/>
          <p:cNvSpPr>
            <a:spLocks noGrp="1"/>
          </p:cNvSpPr>
          <p:nvPr>
            <p:ph type="subTitle" idx="1"/>
          </p:nvPr>
        </p:nvSpPr>
        <p:spPr>
          <a:xfrm>
            <a:off x="2695194" y="2707574"/>
            <a:ext cx="6801612" cy="1787236"/>
          </a:xfrm>
          <a:ln>
            <a:solidFill>
              <a:schemeClr val="tx1"/>
            </a:solidFill>
          </a:ln>
        </p:spPr>
        <p:txBody>
          <a:bodyPr anchor="t">
            <a:normAutofit lnSpcReduction="10000"/>
          </a:bodyPr>
          <a:lstStyle/>
          <a:p>
            <a:r>
              <a:rPr lang="vi-VN" dirty="0">
                <a:latin typeface="+mj-lt"/>
              </a:rPr>
              <a:t>Phạm </a:t>
            </a:r>
            <a:r>
              <a:rPr lang="vi-VN" dirty="0" smtClean="0">
                <a:latin typeface="+mj-lt"/>
              </a:rPr>
              <a:t>Bá</a:t>
            </a:r>
            <a:r>
              <a:rPr lang="en-US" dirty="0" smtClean="0">
                <a:latin typeface="+mj-lt"/>
              </a:rPr>
              <a:t> </a:t>
            </a:r>
            <a:r>
              <a:rPr lang="vi-VN" dirty="0" smtClean="0">
                <a:latin typeface="+mj-lt"/>
              </a:rPr>
              <a:t>Dương</a:t>
            </a:r>
            <a:r>
              <a:rPr lang="en-US" dirty="0" smtClean="0">
                <a:latin typeface="+mj-lt"/>
              </a:rPr>
              <a:t> 64130411 (Nhóm trưởng)</a:t>
            </a:r>
            <a:endParaRPr lang="en-US" dirty="0">
              <a:latin typeface="+mj-lt"/>
            </a:endParaRPr>
          </a:p>
          <a:p>
            <a:r>
              <a:rPr lang="en-US" dirty="0">
                <a:latin typeface="+mj-lt"/>
              </a:rPr>
              <a:t>Lê </a:t>
            </a:r>
            <a:r>
              <a:rPr lang="en-US" dirty="0" smtClean="0">
                <a:latin typeface="+mj-lt"/>
              </a:rPr>
              <a:t>Quang Lộc 64131196</a:t>
            </a:r>
            <a:endParaRPr lang="en-US" dirty="0">
              <a:latin typeface="+mj-lt"/>
            </a:endParaRPr>
          </a:p>
          <a:p>
            <a:r>
              <a:rPr lang="en-US" dirty="0">
                <a:latin typeface="+mj-lt"/>
              </a:rPr>
              <a:t>Huỳnh </a:t>
            </a:r>
            <a:r>
              <a:rPr lang="en-US" dirty="0" smtClean="0">
                <a:latin typeface="+mj-lt"/>
              </a:rPr>
              <a:t>Tuấn Kiệt </a:t>
            </a:r>
            <a:r>
              <a:rPr lang="en-US" dirty="0">
                <a:latin typeface="+mj-lt"/>
              </a:rPr>
              <a:t>64131054</a:t>
            </a:r>
          </a:p>
          <a:p>
            <a:r>
              <a:rPr lang="en-US" dirty="0">
                <a:latin typeface="+mj-lt"/>
              </a:rPr>
              <a:t>Phùng </a:t>
            </a:r>
            <a:r>
              <a:rPr lang="en-US" dirty="0" smtClean="0">
                <a:latin typeface="+mj-lt"/>
              </a:rPr>
              <a:t>Quốc Thịnh </a:t>
            </a:r>
            <a:r>
              <a:rPr lang="en-US" dirty="0">
                <a:latin typeface="+mj-lt"/>
              </a:rPr>
              <a:t>64132306</a:t>
            </a:r>
          </a:p>
          <a:p>
            <a:endParaRPr lang="en-US" dirty="0"/>
          </a:p>
        </p:txBody>
      </p:sp>
    </p:spTree>
    <p:extLst>
      <p:ext uri="{BB962C8B-B14F-4D97-AF65-F5344CB8AC3E}">
        <p14:creationId xmlns:p14="http://schemas.microsoft.com/office/powerpoint/2010/main" val="29706384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31917" y="599508"/>
            <a:ext cx="9059883" cy="1148973"/>
          </a:xfrm>
          <a:ln>
            <a:solidFill>
              <a:schemeClr val="tx1"/>
            </a:solidFill>
          </a:ln>
        </p:spPr>
        <p:txBody>
          <a:bodyPr anchor="ctr">
            <a:normAutofit/>
          </a:bodyPr>
          <a:lstStyle/>
          <a:p>
            <a:r>
              <a:rPr lang="en-US" sz="4000" dirty="0" smtClean="0"/>
              <a:t>Tổng quan</a:t>
            </a:r>
            <a:endParaRPr lang="en-US" sz="4000" dirty="0"/>
          </a:p>
        </p:txBody>
      </p:sp>
      <p:sp>
        <p:nvSpPr>
          <p:cNvPr id="5" name="Subtitle 4"/>
          <p:cNvSpPr>
            <a:spLocks noGrp="1"/>
          </p:cNvSpPr>
          <p:nvPr>
            <p:ph type="subTitle" idx="1"/>
          </p:nvPr>
        </p:nvSpPr>
        <p:spPr>
          <a:xfrm>
            <a:off x="0" y="2755075"/>
            <a:ext cx="12192000" cy="4102925"/>
          </a:xfrm>
        </p:spPr>
        <p:txBody>
          <a:bodyPr>
            <a:noAutofit/>
          </a:bodyPr>
          <a:lstStyle/>
          <a:p>
            <a:pPr marL="342900" indent="-342900" algn="l">
              <a:buFont typeface="Arial" panose="020B0604020202020204" pitchFamily="34" charset="0"/>
              <a:buChar char="•"/>
            </a:pPr>
            <a:r>
              <a:rPr lang="vi-VN" sz="2000" dirty="0" smtClean="0">
                <a:latin typeface="+mj-lt"/>
              </a:rPr>
              <a:t>Trong thời đại toàn cầu hóa và số hóa ngày nay, ngành dịch thuật đóng vai trò quan trọng trong việc kết nối văn hóa, kinh doanh và giao tiếp trên toàn thế giới. Tuy nhiên, với sự phát triển nhanh chóng của công nghệ và sự tăng cường cạnh tranh, các tổ chức và cá nhân hoạt động trong lĩnh vực này đối mặt với nhiều thách thức.</a:t>
            </a:r>
          </a:p>
          <a:p>
            <a:pPr marL="342900" indent="-342900" algn="l">
              <a:buFont typeface="Arial" panose="020B0604020202020204" pitchFamily="34" charset="0"/>
              <a:buChar char="•"/>
            </a:pPr>
            <a:r>
              <a:rPr lang="vi-VN" sz="2000" dirty="0" smtClean="0">
                <a:latin typeface="+mj-lt"/>
              </a:rPr>
              <a:t>Một trong những thách thức lớn nhất mà các tổ chức dịch thuật phải đối mặt là việc quản lý thông tin khách hàng và dự án một cách hiệu quả. Với lượng thông tin khách hàng ngày càng tăng lên và yêu cầu dịch vụ dịch thuật đa dạng, việc sử dụng các phương tiện quản lý thông tin cũng như giao tiếp với khách hàng trở nên phức tạp hơn bao giờ hết.</a:t>
            </a:r>
          </a:p>
          <a:p>
            <a:pPr marL="342900" indent="-342900" algn="l">
              <a:buFont typeface="Arial" panose="020B0604020202020204" pitchFamily="34" charset="0"/>
              <a:buChar char="•"/>
            </a:pPr>
            <a:r>
              <a:rPr lang="vi-VN" sz="2000" dirty="0" smtClean="0">
                <a:latin typeface="+mj-lt"/>
              </a:rPr>
              <a:t>Để giải quyết vấn đề này, việc xây dựng một hệ thống quản lý khách hàng hiệu quả trở nên cần thiết. Hệ thống này không chỉ giúp tổ chức dịch thuật lưu trữ thông tin khách hàng một cách cấu trúc và an toàn mà còn cung cấp các công cụ để quản lý dự án, theo dõi tiến độ, và tăng cường tương tác với khách hàng. Điều này không chỉ giúp tăng cường hiệu suất làm việc mà còn nâng cao chất lượng dịch vụ và tạo ra một môi trường làm việc chuyên nghiệp và minh bạch.</a:t>
            </a:r>
            <a:endParaRPr lang="en-US" sz="2000" dirty="0">
              <a:latin typeface="+mj-lt"/>
            </a:endParaRPr>
          </a:p>
        </p:txBody>
      </p:sp>
    </p:spTree>
    <p:extLst>
      <p:ext uri="{BB962C8B-B14F-4D97-AF65-F5344CB8AC3E}">
        <p14:creationId xmlns:p14="http://schemas.microsoft.com/office/powerpoint/2010/main" val="13227929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030681" y="296884"/>
            <a:ext cx="7930183" cy="1448790"/>
          </a:xfrm>
          <a:ln>
            <a:solidFill>
              <a:schemeClr val="tx1"/>
            </a:solidFill>
          </a:ln>
        </p:spPr>
        <p:txBody>
          <a:bodyPr>
            <a:normAutofit/>
          </a:bodyPr>
          <a:lstStyle/>
          <a:p>
            <a:pPr algn="ctr"/>
            <a:r>
              <a:rPr lang="en-US" sz="4000" dirty="0" smtClean="0"/>
              <a:t>Sơ đồ tồng quan của cơ sở dữ liệu</a:t>
            </a:r>
            <a:endParaRPr lang="en-US" sz="4000" dirty="0"/>
          </a:p>
        </p:txBody>
      </p:sp>
      <p:pic>
        <p:nvPicPr>
          <p:cNvPr id="7" name="Content Placeholder 6"/>
          <p:cNvPicPr>
            <a:picLocks noGrp="1" noChangeAspect="1"/>
          </p:cNvPicPr>
          <p:nvPr>
            <p:ph idx="1"/>
          </p:nvPr>
        </p:nvPicPr>
        <p:blipFill>
          <a:blip r:embed="rId2"/>
          <a:stretch>
            <a:fillRect/>
          </a:stretch>
        </p:blipFill>
        <p:spPr>
          <a:xfrm>
            <a:off x="2669520" y="1825625"/>
            <a:ext cx="6852960" cy="4351338"/>
          </a:xfrm>
          <a:prstGeom prst="rect">
            <a:avLst/>
          </a:prstGeom>
        </p:spPr>
      </p:pic>
    </p:spTree>
    <p:extLst>
      <p:ext uri="{BB962C8B-B14F-4D97-AF65-F5344CB8AC3E}">
        <p14:creationId xmlns:p14="http://schemas.microsoft.com/office/powerpoint/2010/main" val="36298538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531243"/>
            <a:ext cx="7729728" cy="1188720"/>
          </a:xfrm>
          <a:ln>
            <a:solidFill>
              <a:schemeClr val="tx1"/>
            </a:solidFill>
          </a:ln>
        </p:spPr>
        <p:txBody>
          <a:bodyPr>
            <a:normAutofit fontScale="90000"/>
          </a:bodyPr>
          <a:lstStyle/>
          <a:p>
            <a:pPr algn="ctr"/>
            <a:r>
              <a:rPr lang="en-US" dirty="0" smtClean="0"/>
              <a:t>Các nhu cầu được đáp ứng trong bảng cơ sở dữ liệu trên là: </a:t>
            </a:r>
            <a:endParaRPr lang="en-US" dirty="0"/>
          </a:p>
        </p:txBody>
      </p:sp>
      <p:sp>
        <p:nvSpPr>
          <p:cNvPr id="3" name="Content Placeholder 2"/>
          <p:cNvSpPr>
            <a:spLocks noGrp="1"/>
          </p:cNvSpPr>
          <p:nvPr>
            <p:ph idx="1"/>
          </p:nvPr>
        </p:nvSpPr>
        <p:spPr>
          <a:xfrm>
            <a:off x="0" y="2638044"/>
            <a:ext cx="12192000" cy="4219956"/>
          </a:xfrm>
        </p:spPr>
        <p:txBody>
          <a:bodyPr>
            <a:normAutofit/>
          </a:bodyPr>
          <a:lstStyle/>
          <a:p>
            <a:r>
              <a:rPr lang="vi-VN" sz="2000" dirty="0"/>
              <a:t>Quản lý thông tin khách </a:t>
            </a:r>
            <a:r>
              <a:rPr lang="vi-VN" sz="2000" dirty="0" smtClean="0"/>
              <a:t>hàng</a:t>
            </a:r>
            <a:r>
              <a:rPr lang="en-US" sz="2000" dirty="0" smtClean="0"/>
              <a:t> và dịch giả</a:t>
            </a:r>
            <a:r>
              <a:rPr lang="vi-VN" sz="2000" dirty="0" smtClean="0"/>
              <a:t>:</a:t>
            </a:r>
            <a:r>
              <a:rPr lang="en-US" sz="2000" dirty="0" smtClean="0"/>
              <a:t> </a:t>
            </a:r>
            <a:r>
              <a:rPr lang="vi-VN" sz="2000" dirty="0" smtClean="0"/>
              <a:t>Bảng </a:t>
            </a:r>
            <a:r>
              <a:rPr lang="en-US" sz="2000" dirty="0" smtClean="0"/>
              <a:t>“</a:t>
            </a:r>
            <a:r>
              <a:rPr lang="vi-VN" sz="2000" dirty="0" smtClean="0"/>
              <a:t>KhachHa</a:t>
            </a:r>
            <a:r>
              <a:rPr lang="en-US" sz="2000" dirty="0" smtClean="0"/>
              <a:t>ng” và “DichGia”</a:t>
            </a:r>
            <a:r>
              <a:rPr lang="vi-VN" sz="2000" dirty="0" smtClean="0"/>
              <a:t> </a:t>
            </a:r>
            <a:r>
              <a:rPr lang="vi-VN" sz="2000" dirty="0"/>
              <a:t>chứa thông </a:t>
            </a:r>
            <a:r>
              <a:rPr lang="vi-VN" sz="2000" dirty="0" smtClean="0"/>
              <a:t>tin chi tiết về các</a:t>
            </a:r>
            <a:r>
              <a:rPr lang="en-US" sz="2000" dirty="0" smtClean="0"/>
              <a:t> khách hàng, dịch giả</a:t>
            </a:r>
            <a:r>
              <a:rPr lang="vi-VN" sz="2000" dirty="0" smtClean="0"/>
              <a:t>, </a:t>
            </a:r>
            <a:r>
              <a:rPr lang="vi-VN" sz="2000" dirty="0"/>
              <a:t>bao gồm mã khách </a:t>
            </a:r>
            <a:r>
              <a:rPr lang="vi-VN" sz="2000" dirty="0" smtClean="0"/>
              <a:t>hàng,</a:t>
            </a:r>
            <a:r>
              <a:rPr lang="en-US" sz="2000" dirty="0" smtClean="0"/>
              <a:t> mã dịch giả,</a:t>
            </a:r>
            <a:r>
              <a:rPr lang="vi-VN" sz="2000" dirty="0" smtClean="0"/>
              <a:t> </a:t>
            </a:r>
            <a:r>
              <a:rPr lang="vi-VN" sz="2000" dirty="0"/>
              <a:t>tên, email, số điện thoại, địa chỉ và thông tin khác.</a:t>
            </a:r>
          </a:p>
          <a:p>
            <a:r>
              <a:rPr lang="vi-VN" sz="2000" dirty="0"/>
              <a:t>Quản lý ngôn ngữ và giá </a:t>
            </a:r>
            <a:r>
              <a:rPr lang="vi-VN" sz="2000" dirty="0" smtClean="0"/>
              <a:t>cả:</a:t>
            </a:r>
            <a:r>
              <a:rPr lang="en-US" sz="2000" dirty="0" smtClean="0"/>
              <a:t> </a:t>
            </a:r>
            <a:r>
              <a:rPr lang="vi-VN" sz="2000" dirty="0" smtClean="0"/>
              <a:t>Bảng </a:t>
            </a:r>
            <a:r>
              <a:rPr lang="en-US" sz="2000" dirty="0" smtClean="0"/>
              <a:t>“</a:t>
            </a:r>
            <a:r>
              <a:rPr lang="vi-VN" sz="2000" dirty="0" smtClean="0"/>
              <a:t>NgonNgu</a:t>
            </a:r>
            <a:r>
              <a:rPr lang="en-US" sz="2000" dirty="0" smtClean="0"/>
              <a:t>”</a:t>
            </a:r>
            <a:r>
              <a:rPr lang="vi-VN" sz="2000" dirty="0" smtClean="0"/>
              <a:t> </a:t>
            </a:r>
            <a:r>
              <a:rPr lang="vi-VN" sz="2000" dirty="0"/>
              <a:t>và </a:t>
            </a:r>
            <a:r>
              <a:rPr lang="en-US" sz="2000" dirty="0" smtClean="0"/>
              <a:t>“</a:t>
            </a:r>
            <a:r>
              <a:rPr lang="vi-VN" sz="2000" dirty="0" smtClean="0"/>
              <a:t>GiaNgonNgu</a:t>
            </a:r>
            <a:r>
              <a:rPr lang="en-US" sz="2000" dirty="0" smtClean="0"/>
              <a:t>”</a:t>
            </a:r>
            <a:r>
              <a:rPr lang="vi-VN" sz="2000" dirty="0" smtClean="0"/>
              <a:t> </a:t>
            </a:r>
            <a:r>
              <a:rPr lang="vi-VN" sz="2000" dirty="0"/>
              <a:t>lưu trữ thông tin về các ngôn ngữ cũng như giá cả cho mỗi trang dịch thuật.</a:t>
            </a:r>
          </a:p>
          <a:p>
            <a:r>
              <a:rPr lang="vi-VN" sz="2000" dirty="0"/>
              <a:t>Quản lý dự án dịch </a:t>
            </a:r>
            <a:r>
              <a:rPr lang="vi-VN" sz="2000" dirty="0" smtClean="0"/>
              <a:t>thuật:</a:t>
            </a:r>
            <a:r>
              <a:rPr lang="en-US" sz="2000" dirty="0" smtClean="0"/>
              <a:t> </a:t>
            </a:r>
            <a:r>
              <a:rPr lang="vi-VN" sz="2000" dirty="0" smtClean="0"/>
              <a:t>Bảng </a:t>
            </a:r>
            <a:r>
              <a:rPr lang="en-US" sz="2000" dirty="0" smtClean="0"/>
              <a:t>“</a:t>
            </a:r>
            <a:r>
              <a:rPr lang="vi-VN" sz="2000" dirty="0" smtClean="0"/>
              <a:t>DuAn</a:t>
            </a:r>
            <a:r>
              <a:rPr lang="en-US" sz="2000" dirty="0" smtClean="0"/>
              <a:t>”</a:t>
            </a:r>
            <a:r>
              <a:rPr lang="vi-VN" sz="2000" dirty="0" smtClean="0"/>
              <a:t> </a:t>
            </a:r>
            <a:r>
              <a:rPr lang="vi-VN" sz="2000" dirty="0"/>
              <a:t>chứa </a:t>
            </a:r>
            <a:r>
              <a:rPr lang="vi-VN" sz="2000" dirty="0" smtClean="0"/>
              <a:t>thô</a:t>
            </a:r>
            <a:r>
              <a:rPr lang="en-US" sz="2000" dirty="0" smtClean="0"/>
              <a:t>ng tin liên quan đến một dự án</a:t>
            </a:r>
            <a:r>
              <a:rPr lang="vi-VN" sz="2000" dirty="0" smtClean="0"/>
              <a:t>, </a:t>
            </a:r>
            <a:r>
              <a:rPr lang="vi-VN" sz="2000" dirty="0"/>
              <a:t>bao gồm mã dự án, mã khách hàng, ngôn ngữ gốc và ngôn ngữ dịch, số trang, và các thông tin khác.</a:t>
            </a:r>
          </a:p>
          <a:p>
            <a:r>
              <a:rPr lang="vi-VN" sz="2000" dirty="0"/>
              <a:t>Quản lý báo giá và đơn </a:t>
            </a:r>
            <a:r>
              <a:rPr lang="vi-VN" sz="2000" dirty="0" smtClean="0"/>
              <a:t>hàng:</a:t>
            </a:r>
            <a:r>
              <a:rPr lang="en-US" sz="2000" dirty="0" smtClean="0"/>
              <a:t> </a:t>
            </a:r>
            <a:r>
              <a:rPr lang="vi-VN" sz="2000" dirty="0" smtClean="0"/>
              <a:t>Bảng </a:t>
            </a:r>
            <a:r>
              <a:rPr lang="en-US" sz="2000" dirty="0" smtClean="0"/>
              <a:t>“</a:t>
            </a:r>
            <a:r>
              <a:rPr lang="vi-VN" sz="2000" dirty="0" smtClean="0"/>
              <a:t>BaoGia</a:t>
            </a:r>
            <a:r>
              <a:rPr lang="en-US" sz="2000" dirty="0" smtClean="0"/>
              <a:t>”</a:t>
            </a:r>
            <a:r>
              <a:rPr lang="vi-VN" sz="2000" dirty="0" smtClean="0"/>
              <a:t> </a:t>
            </a:r>
            <a:r>
              <a:rPr lang="vi-VN" sz="2000" dirty="0"/>
              <a:t>và </a:t>
            </a:r>
            <a:r>
              <a:rPr lang="en-US" sz="2000" dirty="0" smtClean="0"/>
              <a:t>“</a:t>
            </a:r>
            <a:r>
              <a:rPr lang="vi-VN" sz="2000" dirty="0" smtClean="0"/>
              <a:t>DonHang</a:t>
            </a:r>
            <a:r>
              <a:rPr lang="en-US" sz="2000" dirty="0" smtClean="0"/>
              <a:t>”</a:t>
            </a:r>
            <a:r>
              <a:rPr lang="vi-VN" sz="2000" dirty="0" smtClean="0"/>
              <a:t> </a:t>
            </a:r>
            <a:r>
              <a:rPr lang="vi-VN" sz="2000" dirty="0"/>
              <a:t>giúp quản lý thông tin về báo giá và đơn hàng, bao gồm giá tiền, hình thức thanh toán, trạng thái của đơn hàng và các thông tin khác.</a:t>
            </a:r>
          </a:p>
          <a:p>
            <a:r>
              <a:rPr lang="vi-VN" sz="2000" dirty="0"/>
              <a:t>Quản lý phản hồi từ khách </a:t>
            </a:r>
            <a:r>
              <a:rPr lang="vi-VN" sz="2000" dirty="0" smtClean="0"/>
              <a:t>hàng:</a:t>
            </a:r>
            <a:r>
              <a:rPr lang="en-US" sz="2000" dirty="0" smtClean="0"/>
              <a:t> </a:t>
            </a:r>
            <a:r>
              <a:rPr lang="vi-VN" sz="2000" dirty="0" smtClean="0"/>
              <a:t>Bảng </a:t>
            </a:r>
            <a:r>
              <a:rPr lang="vi-VN" sz="2000" dirty="0"/>
              <a:t>PhanHoi lưu trữ thông tin về phản hồi từ khách hàng, bao gồm mã đơn hàng, mã khách hàng, mã dự án, ngày phản hồi và mức độ hài lòng.</a:t>
            </a:r>
            <a:endParaRPr lang="en-US" sz="2000" dirty="0"/>
          </a:p>
        </p:txBody>
      </p:sp>
    </p:spTree>
    <p:extLst>
      <p:ext uri="{BB962C8B-B14F-4D97-AF65-F5344CB8AC3E}">
        <p14:creationId xmlns:p14="http://schemas.microsoft.com/office/powerpoint/2010/main" val="14147175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49086" y="581282"/>
            <a:ext cx="4022994" cy="849694"/>
          </a:xfrm>
          <a:ln>
            <a:solidFill>
              <a:schemeClr val="tx1"/>
            </a:solidFill>
          </a:ln>
        </p:spPr>
        <p:txBody>
          <a:bodyPr anchor="ctr"/>
          <a:lstStyle/>
          <a:p>
            <a:pPr algn="ctr"/>
            <a:r>
              <a:rPr lang="en-US" dirty="0" smtClean="0"/>
              <a:t>Bảng chính 1: Dự án</a:t>
            </a:r>
            <a:endParaRPr lang="en-US" dirty="0"/>
          </a:p>
        </p:txBody>
      </p:sp>
      <p:pic>
        <p:nvPicPr>
          <p:cNvPr id="7" name="Content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l="3082" r="3082"/>
          <a:stretch>
            <a:fillRect/>
          </a:stretch>
        </p:blipFill>
        <p:spPr>
          <a:xfrm>
            <a:off x="5266706" y="868672"/>
            <a:ext cx="6172200" cy="4873625"/>
          </a:xfrm>
        </p:spPr>
      </p:pic>
      <p:sp>
        <p:nvSpPr>
          <p:cNvPr id="10" name="Text Placeholder 9"/>
          <p:cNvSpPr>
            <a:spLocks noGrp="1"/>
          </p:cNvSpPr>
          <p:nvPr>
            <p:ph type="body" sz="half" idx="2"/>
          </p:nvPr>
        </p:nvSpPr>
        <p:spPr>
          <a:xfrm>
            <a:off x="725853" y="2255507"/>
            <a:ext cx="4540853" cy="2809319"/>
          </a:xfrm>
          <a:ln>
            <a:solidFill>
              <a:schemeClr val="tx1"/>
            </a:solidFill>
          </a:ln>
        </p:spPr>
        <p:txBody>
          <a:bodyPr/>
          <a:lstStyle/>
          <a:p>
            <a:pPr marL="285750" indent="-285750">
              <a:buFont typeface="Arial" panose="020B0604020202020204" pitchFamily="34" charset="0"/>
              <a:buChar char="•"/>
            </a:pPr>
            <a:r>
              <a:rPr lang="vi-VN" sz="2000" dirty="0"/>
              <a:t>Khi khách hàng yêu cầu dịch một dự án, </a:t>
            </a:r>
            <a:r>
              <a:rPr lang="en-US" sz="2000" dirty="0" smtClean="0"/>
              <a:t>người quản lí sẽ</a:t>
            </a:r>
            <a:r>
              <a:rPr lang="vi-VN" sz="2000" dirty="0" smtClean="0"/>
              <a:t> </a:t>
            </a:r>
            <a:r>
              <a:rPr lang="vi-VN" sz="2000" dirty="0"/>
              <a:t>chú trọng đến thông tin cơ bản như tên khách hàng, ngôn ngữ gốc và ngôn ngữ </a:t>
            </a:r>
            <a:r>
              <a:rPr lang="en-US" sz="2000" dirty="0" smtClean="0"/>
              <a:t>dịch sang</a:t>
            </a:r>
            <a:r>
              <a:rPr lang="vi-VN" sz="2000" dirty="0" smtClean="0"/>
              <a:t> </a:t>
            </a:r>
            <a:r>
              <a:rPr lang="vi-VN" sz="2000" dirty="0"/>
              <a:t>của dự án, số trang để tính toán giá cả và áp dụng khuyến mãi, cũng như lĩnh vực dịch thuật để tìm ra dịch giả phù hợp với chuyên ngành cần thiết.</a:t>
            </a:r>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endParaRPr lang="en-US" dirty="0"/>
          </a:p>
        </p:txBody>
      </p:sp>
    </p:spTree>
    <p:extLst>
      <p:ext uri="{BB962C8B-B14F-4D97-AF65-F5344CB8AC3E}">
        <p14:creationId xmlns:p14="http://schemas.microsoft.com/office/powerpoint/2010/main" val="1628816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49086" y="581282"/>
            <a:ext cx="4022994" cy="849694"/>
          </a:xfrm>
          <a:ln>
            <a:solidFill>
              <a:schemeClr val="tx1"/>
            </a:solidFill>
          </a:ln>
        </p:spPr>
        <p:txBody>
          <a:bodyPr anchor="ctr">
            <a:normAutofit fontScale="90000"/>
          </a:bodyPr>
          <a:lstStyle/>
          <a:p>
            <a:pPr algn="ctr"/>
            <a:r>
              <a:rPr lang="en-US" dirty="0" smtClean="0"/>
              <a:t>Bảng chính 2: </a:t>
            </a:r>
            <a:r>
              <a:rPr lang="en-US" dirty="0"/>
              <a:t>Đ</a:t>
            </a:r>
            <a:r>
              <a:rPr lang="en-US" dirty="0" smtClean="0"/>
              <a:t>ơn hàng</a:t>
            </a:r>
            <a:endParaRPr lang="en-US" dirty="0"/>
          </a:p>
        </p:txBody>
      </p:sp>
      <p:pic>
        <p:nvPicPr>
          <p:cNvPr id="7" name="Content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l="5970" r="5970"/>
          <a:stretch>
            <a:fillRect/>
          </a:stretch>
        </p:blipFill>
        <p:spPr>
          <a:xfrm>
            <a:off x="5486009" y="1006129"/>
            <a:ext cx="6172200" cy="4873625"/>
          </a:xfrm>
        </p:spPr>
      </p:pic>
      <p:sp>
        <p:nvSpPr>
          <p:cNvPr id="10" name="Text Placeholder 9"/>
          <p:cNvSpPr>
            <a:spLocks noGrp="1"/>
          </p:cNvSpPr>
          <p:nvPr>
            <p:ph type="body" sz="half" idx="2"/>
          </p:nvPr>
        </p:nvSpPr>
        <p:spPr>
          <a:xfrm>
            <a:off x="725853" y="2255507"/>
            <a:ext cx="4540853" cy="2809319"/>
          </a:xfrm>
          <a:ln>
            <a:solidFill>
              <a:schemeClr val="tx1"/>
            </a:solidFill>
          </a:ln>
        </p:spPr>
        <p:txBody>
          <a:bodyPr>
            <a:noAutofit/>
          </a:bodyPr>
          <a:lstStyle/>
          <a:p>
            <a:pPr marL="285750" indent="-285750">
              <a:buFont typeface="Arial" panose="020B0604020202020204" pitchFamily="34" charset="0"/>
              <a:buChar char="•"/>
            </a:pPr>
            <a:r>
              <a:rPr lang="en-US" sz="2000" dirty="0" smtClean="0"/>
              <a:t>Từ các dự án mà khách hàng đã đặt thì ta có bảng đơn hàng để quản lí các thông tin thanh toán về dự án đó như khách </a:t>
            </a:r>
            <a:r>
              <a:rPr lang="en-US" sz="2000" dirty="0"/>
              <a:t>hàng, khuyến mãi được áp </a:t>
            </a:r>
            <a:r>
              <a:rPr lang="en-US" sz="2000" dirty="0" smtClean="0"/>
              <a:t>dụng, </a:t>
            </a:r>
            <a:r>
              <a:rPr lang="en-US" sz="2000" dirty="0"/>
              <a:t>báo </a:t>
            </a:r>
            <a:r>
              <a:rPr lang="en-US" sz="2000" dirty="0" smtClean="0"/>
              <a:t>giá, ngày bắt đầu mà tiếp nhận đơn hàng, ngày hoàn thành dự kiến của đơn hàng, hình thức thanh toán, trạng thái hiện tại của hiện tại (đang xử lí hay đã hoàn thành) và cuối cùng là giá sau khuyến mãi của đơn hàng đó.</a:t>
            </a:r>
            <a:endParaRPr lang="en-US" sz="2000" dirty="0"/>
          </a:p>
        </p:txBody>
      </p:sp>
    </p:spTree>
    <p:extLst>
      <p:ext uri="{BB962C8B-B14F-4D97-AF65-F5344CB8AC3E}">
        <p14:creationId xmlns:p14="http://schemas.microsoft.com/office/powerpoint/2010/main" val="31225947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ngôn ngữ</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175933" y="3627798"/>
            <a:ext cx="6016067" cy="3230202"/>
          </a:xfrm>
        </p:spPr>
      </p:pic>
      <p:sp>
        <p:nvSpPr>
          <p:cNvPr id="5" name="Rectangle 4"/>
          <p:cNvSpPr/>
          <p:nvPr/>
        </p:nvSpPr>
        <p:spPr>
          <a:xfrm>
            <a:off x="1" y="1508166"/>
            <a:ext cx="6151418"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MaNgonNgu (khoá chính): Mã ngôn </a:t>
            </a:r>
            <a:r>
              <a:rPr lang="en-US" dirty="0" smtClean="0">
                <a:solidFill>
                  <a:schemeClr val="tx1"/>
                </a:solidFill>
              </a:rPr>
              <a:t>ngữ của từng loại ngôn ngữ.</a:t>
            </a:r>
            <a:endParaRPr lang="en-US" dirty="0" smtClean="0">
              <a:solidFill>
                <a:schemeClr val="tx1"/>
              </a:solidFill>
            </a:endParaRPr>
          </a:p>
          <a:p>
            <a:pPr marL="285750" indent="-285750">
              <a:buFont typeface="Arial" panose="020B0604020202020204" pitchFamily="34" charset="0"/>
              <a:buChar char="•"/>
            </a:pPr>
            <a:r>
              <a:rPr lang="en-US" dirty="0" smtClean="0">
                <a:solidFill>
                  <a:schemeClr val="tx1"/>
                </a:solidFill>
              </a:rPr>
              <a:t>TenNgonNgu: Tên của các ngôn ngữ mà khách hàng có thể yêu cầu dịch.</a:t>
            </a:r>
            <a:endParaRPr lang="en-US" dirty="0">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3295" y="1508166"/>
            <a:ext cx="6048705" cy="2119632"/>
          </a:xfrm>
          <a:prstGeom prst="rect">
            <a:avLst/>
          </a:prstGeom>
        </p:spPr>
      </p:pic>
    </p:spTree>
    <p:extLst>
      <p:ext uri="{BB962C8B-B14F-4D97-AF65-F5344CB8AC3E}">
        <p14:creationId xmlns:p14="http://schemas.microsoft.com/office/powerpoint/2010/main" val="15335700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khách hàng</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5518849" y="1508165"/>
            <a:ext cx="6673151" cy="3774386"/>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8849" y="5282552"/>
            <a:ext cx="6673151" cy="1575447"/>
          </a:xfrm>
          <a:prstGeom prst="rect">
            <a:avLst/>
          </a:prstGeom>
        </p:spPr>
      </p:pic>
      <p:sp>
        <p:nvSpPr>
          <p:cNvPr id="5" name="Rectangle 4"/>
          <p:cNvSpPr/>
          <p:nvPr/>
        </p:nvSpPr>
        <p:spPr>
          <a:xfrm>
            <a:off x="0" y="1508166"/>
            <a:ext cx="552202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dirty="0" smtClean="0">
                <a:solidFill>
                  <a:schemeClr val="tx1"/>
                </a:solidFill>
              </a:rPr>
              <a:t>MaKhachHang (khoá chính): Mã khách </a:t>
            </a:r>
            <a:r>
              <a:rPr lang="en-US" dirty="0" smtClean="0">
                <a:solidFill>
                  <a:schemeClr val="tx1"/>
                </a:solidFill>
              </a:rPr>
              <a:t>hàng của từng khách hàng sử dụng dịch vụ.</a:t>
            </a:r>
            <a:endParaRPr lang="en-US" dirty="0" smtClean="0">
              <a:solidFill>
                <a:schemeClr val="tx1"/>
              </a:solidFill>
            </a:endParaRPr>
          </a:p>
          <a:p>
            <a:pPr marL="342900" indent="-342900">
              <a:buFont typeface="Arial" panose="020B0604020202020204" pitchFamily="34" charset="0"/>
              <a:buChar char="•"/>
            </a:pPr>
            <a:r>
              <a:rPr lang="en-US" dirty="0" smtClean="0">
                <a:solidFill>
                  <a:schemeClr val="tx1"/>
                </a:solidFill>
              </a:rPr>
              <a:t>TenKhachHang: Tên của khách hàng. </a:t>
            </a:r>
          </a:p>
          <a:p>
            <a:pPr marL="342900" indent="-342900">
              <a:buFont typeface="Arial" panose="020B0604020202020204" pitchFamily="34" charset="0"/>
              <a:buChar char="•"/>
            </a:pPr>
            <a:r>
              <a:rPr lang="en-US" dirty="0" smtClean="0">
                <a:solidFill>
                  <a:schemeClr val="tx1"/>
                </a:solidFill>
              </a:rPr>
              <a:t>Email: Email khách hàng.</a:t>
            </a:r>
          </a:p>
          <a:p>
            <a:pPr marL="342900" indent="-342900">
              <a:buFont typeface="Arial" panose="020B0604020202020204" pitchFamily="34" charset="0"/>
              <a:buChar char="•"/>
            </a:pPr>
            <a:r>
              <a:rPr lang="en-US" dirty="0" smtClean="0">
                <a:solidFill>
                  <a:schemeClr val="tx1"/>
                </a:solidFill>
              </a:rPr>
              <a:t>SDT: Số điện thoại khách hàng.</a:t>
            </a:r>
          </a:p>
          <a:p>
            <a:pPr marL="342900" indent="-342900">
              <a:buFont typeface="Arial" panose="020B0604020202020204" pitchFamily="34" charset="0"/>
              <a:buChar char="•"/>
            </a:pPr>
            <a:r>
              <a:rPr lang="en-US" dirty="0" smtClean="0">
                <a:solidFill>
                  <a:schemeClr val="tx1"/>
                </a:solidFill>
              </a:rPr>
              <a:t>Giới tính: Giới tính khách hàng.</a:t>
            </a:r>
          </a:p>
          <a:p>
            <a:pPr marL="342900" indent="-342900">
              <a:buFont typeface="Arial" panose="020B0604020202020204" pitchFamily="34" charset="0"/>
              <a:buChar char="•"/>
            </a:pPr>
            <a:r>
              <a:rPr lang="en-US" dirty="0" smtClean="0">
                <a:solidFill>
                  <a:schemeClr val="tx1"/>
                </a:solidFill>
              </a:rPr>
              <a:t>DiaChi: Địa chỉ của khách hàng.</a:t>
            </a:r>
            <a:endParaRPr lang="en-US" dirty="0">
              <a:solidFill>
                <a:schemeClr val="tx1"/>
              </a:solidFill>
            </a:endParaRPr>
          </a:p>
        </p:txBody>
      </p:sp>
    </p:spTree>
    <p:extLst>
      <p:ext uri="{BB962C8B-B14F-4D97-AF65-F5344CB8AC3E}">
        <p14:creationId xmlns:p14="http://schemas.microsoft.com/office/powerpoint/2010/main" val="12853537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phản hồi</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519552" y="1508166"/>
            <a:ext cx="5672447" cy="1659597"/>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9552" y="4297524"/>
            <a:ext cx="5669271" cy="1267408"/>
          </a:xfrm>
          <a:prstGeom prst="rect">
            <a:avLst/>
          </a:prstGeom>
        </p:spPr>
      </p:pic>
      <p:sp>
        <p:nvSpPr>
          <p:cNvPr id="5" name="Rectangle 4"/>
          <p:cNvSpPr/>
          <p:nvPr/>
        </p:nvSpPr>
        <p:spPr>
          <a:xfrm>
            <a:off x="1" y="1508166"/>
            <a:ext cx="6519552"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MaPhanHoi (khoá chính): Mã phản </a:t>
            </a:r>
            <a:r>
              <a:rPr lang="en-US" dirty="0" smtClean="0">
                <a:solidFill>
                  <a:schemeClr val="tx1"/>
                </a:solidFill>
              </a:rPr>
              <a:t>hồi liên quan đến từng dự án của khách hàng.</a:t>
            </a:r>
            <a:endParaRPr lang="en-US" dirty="0" smtClean="0">
              <a:solidFill>
                <a:schemeClr val="tx1"/>
              </a:solidFill>
            </a:endParaRPr>
          </a:p>
          <a:p>
            <a:pPr marL="285750" indent="-285750">
              <a:buFont typeface="Arial" panose="020B0604020202020204" pitchFamily="34" charset="0"/>
              <a:buChar char="•"/>
            </a:pPr>
            <a:r>
              <a:rPr lang="en-US" dirty="0" smtClean="0">
                <a:solidFill>
                  <a:schemeClr val="tx1"/>
                </a:solidFill>
              </a:rPr>
              <a:t>MaDonHang (khoá ngoại):Mã đơn hàng, </a:t>
            </a:r>
            <a:r>
              <a:rPr lang="en-US" dirty="0">
                <a:solidFill>
                  <a:schemeClr val="tx1"/>
                </a:solidFill>
              </a:rPr>
              <a:t>t</a:t>
            </a:r>
            <a:r>
              <a:rPr lang="en-US" dirty="0" smtClean="0">
                <a:solidFill>
                  <a:schemeClr val="tx1"/>
                </a:solidFill>
              </a:rPr>
              <a:t>ham chiếu đến “MaDonHang” của bảng đơn hàng.</a:t>
            </a:r>
          </a:p>
          <a:p>
            <a:pPr marL="285750" indent="-285750">
              <a:buFont typeface="Arial" panose="020B0604020202020204" pitchFamily="34" charset="0"/>
              <a:buChar char="•"/>
            </a:pPr>
            <a:r>
              <a:rPr lang="en-US" dirty="0" smtClean="0">
                <a:solidFill>
                  <a:schemeClr val="tx1"/>
                </a:solidFill>
              </a:rPr>
              <a:t>MaKhachHang (khoá ngoại): Tham chiếu đến MaKhachHang của bảng khách hàng.</a:t>
            </a:r>
          </a:p>
          <a:p>
            <a:pPr marL="285750" indent="-285750">
              <a:buFont typeface="Arial" panose="020B0604020202020204" pitchFamily="34" charset="0"/>
              <a:buChar char="•"/>
            </a:pPr>
            <a:r>
              <a:rPr lang="en-US" dirty="0" smtClean="0">
                <a:solidFill>
                  <a:schemeClr val="tx1"/>
                </a:solidFill>
              </a:rPr>
              <a:t>MaDuAn (khoá ngoại): Tham chiếu đến MaDuAn của bảng dự án.</a:t>
            </a:r>
          </a:p>
          <a:p>
            <a:pPr marL="285750" indent="-285750">
              <a:buFont typeface="Arial" panose="020B0604020202020204" pitchFamily="34" charset="0"/>
              <a:buChar char="•"/>
            </a:pPr>
            <a:r>
              <a:rPr lang="en-US" dirty="0" smtClean="0">
                <a:solidFill>
                  <a:schemeClr val="tx1"/>
                </a:solidFill>
              </a:rPr>
              <a:t>NgayPhanHoi: Ngày khách hàng phản hồi, nếu là null thì khách hàng chưa phản hồi.</a:t>
            </a:r>
          </a:p>
          <a:p>
            <a:pPr marL="285750" indent="-285750">
              <a:buFont typeface="Arial" panose="020B0604020202020204" pitchFamily="34" charset="0"/>
              <a:buChar char="•"/>
            </a:pPr>
            <a:r>
              <a:rPr lang="en-US" dirty="0" smtClean="0">
                <a:solidFill>
                  <a:schemeClr val="tx1"/>
                </a:solidFill>
              </a:rPr>
              <a:t>MucDoHaiLong: Mức độ hài lòng của khách hàng, chỉ chấp nhận nhập dữ liệu từ 1-10. Nếu là null thì khách hàng chưa phản hồi.</a:t>
            </a:r>
          </a:p>
          <a:p>
            <a:pPr marL="285750" indent="-285750">
              <a:buFont typeface="Arial" panose="020B0604020202020204" pitchFamily="34" charset="0"/>
              <a:buChar char="•"/>
            </a:pPr>
            <a:r>
              <a:rPr lang="en-US" dirty="0" smtClean="0">
                <a:solidFill>
                  <a:schemeClr val="tx1"/>
                </a:solidFill>
              </a:rPr>
              <a:t>NoiDungPhanHoi: Nội dung phản hồi của khách hàng, nếu là null thì khách hàng không ghi nội dung phản hồi.</a:t>
            </a:r>
            <a:endParaRPr lang="en-US" dirty="0">
              <a:solidFill>
                <a:schemeClr val="tx1"/>
              </a:solidFill>
            </a:endParaRPr>
          </a:p>
        </p:txBody>
      </p:sp>
    </p:spTree>
    <p:extLst>
      <p:ext uri="{BB962C8B-B14F-4D97-AF65-F5344CB8AC3E}">
        <p14:creationId xmlns:p14="http://schemas.microsoft.com/office/powerpoint/2010/main" val="8671995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lĩnh vực dịch thuật</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602680" y="1508166"/>
            <a:ext cx="5589319" cy="1399501"/>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681" y="3722915"/>
            <a:ext cx="5586142" cy="1591012"/>
          </a:xfrm>
          <a:prstGeom prst="rect">
            <a:avLst/>
          </a:prstGeom>
        </p:spPr>
      </p:pic>
      <p:sp>
        <p:nvSpPr>
          <p:cNvPr id="5" name="Rectangle 4"/>
          <p:cNvSpPr/>
          <p:nvPr/>
        </p:nvSpPr>
        <p:spPr>
          <a:xfrm>
            <a:off x="1" y="1508166"/>
            <a:ext cx="6602680"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MaLinhVuc_DichThuat (khoá chính): Mã lĩnh vực dịch </a:t>
            </a:r>
            <a:r>
              <a:rPr lang="en-US" dirty="0" smtClean="0">
                <a:solidFill>
                  <a:schemeClr val="tx1"/>
                </a:solidFill>
              </a:rPr>
              <a:t>thuật để chỉ các lĩnh vực riêng biệt mà hiện tại có thể dịch.</a:t>
            </a:r>
            <a:endParaRPr lang="en-US" dirty="0" smtClean="0">
              <a:solidFill>
                <a:schemeClr val="tx1"/>
              </a:solidFill>
            </a:endParaRPr>
          </a:p>
          <a:p>
            <a:pPr marL="285750" indent="-285750">
              <a:buFont typeface="Arial" panose="020B0604020202020204" pitchFamily="34" charset="0"/>
              <a:buChar char="•"/>
            </a:pPr>
            <a:r>
              <a:rPr lang="en-US" dirty="0" smtClean="0">
                <a:solidFill>
                  <a:schemeClr val="tx1"/>
                </a:solidFill>
              </a:rPr>
              <a:t>TenLinhVuc_DichThuat: Tên lĩnh vực dịch thuật mà khách hàng có thể yêu cầu dịch.</a:t>
            </a:r>
            <a:endParaRPr lang="en-US" dirty="0">
              <a:solidFill>
                <a:schemeClr val="tx1"/>
              </a:solidFill>
            </a:endParaRPr>
          </a:p>
        </p:txBody>
      </p:sp>
    </p:spTree>
    <p:extLst>
      <p:ext uri="{BB962C8B-B14F-4D97-AF65-F5344CB8AC3E}">
        <p14:creationId xmlns:p14="http://schemas.microsoft.com/office/powerpoint/2010/main" val="40317571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dịch giả</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602681" y="1508166"/>
            <a:ext cx="5466745" cy="1638795"/>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5858" y="3711039"/>
            <a:ext cx="5586142" cy="1347848"/>
          </a:xfrm>
          <a:prstGeom prst="rect">
            <a:avLst/>
          </a:prstGeom>
        </p:spPr>
      </p:pic>
      <p:sp>
        <p:nvSpPr>
          <p:cNvPr id="5" name="Rectangle 4"/>
          <p:cNvSpPr/>
          <p:nvPr/>
        </p:nvSpPr>
        <p:spPr>
          <a:xfrm>
            <a:off x="1" y="1508166"/>
            <a:ext cx="6602680"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MaDichGia (khoá chính): Mã dịch </a:t>
            </a:r>
            <a:r>
              <a:rPr lang="en-US" dirty="0" smtClean="0">
                <a:solidFill>
                  <a:schemeClr val="tx1"/>
                </a:solidFill>
              </a:rPr>
              <a:t>giả của từng dịch giả hiện có trong công ty. </a:t>
            </a:r>
            <a:endParaRPr lang="en-US" dirty="0" smtClean="0">
              <a:solidFill>
                <a:schemeClr val="tx1"/>
              </a:solidFill>
            </a:endParaRPr>
          </a:p>
          <a:p>
            <a:pPr marL="285750" indent="-285750">
              <a:buFont typeface="Arial" panose="020B0604020202020204" pitchFamily="34" charset="0"/>
              <a:buChar char="•"/>
            </a:pPr>
            <a:r>
              <a:rPr lang="en-US" dirty="0" smtClean="0">
                <a:solidFill>
                  <a:schemeClr val="tx1"/>
                </a:solidFill>
              </a:rPr>
              <a:t>MaLinhVuc_DichThuat (khoá ngoại): Mã lĩnh vực dịch thuật, tham chiếu đến “MaLinhVuc_DichThuat” trong bảng lĩnh vực dịch thuật để chỉ lĩnh vực chuyên ngành của dịch giả.</a:t>
            </a:r>
            <a:endParaRPr lang="en-US" dirty="0">
              <a:solidFill>
                <a:schemeClr val="tx1"/>
              </a:solidFill>
            </a:endParaRPr>
          </a:p>
          <a:p>
            <a:pPr marL="285750" indent="-285750">
              <a:buFont typeface="Arial" panose="020B0604020202020204" pitchFamily="34" charset="0"/>
              <a:buChar char="•"/>
            </a:pPr>
            <a:r>
              <a:rPr lang="en-US" dirty="0" smtClean="0">
                <a:solidFill>
                  <a:schemeClr val="tx1"/>
                </a:solidFill>
              </a:rPr>
              <a:t>MaNgonNgu (khoá ngoại): Mã ngôn ngữ, tham chiếu đến “MaNgonNgu” trong bảng ngôn ngữ để chỉ ngôn ngữ chuyên ngành của dịch giả.</a:t>
            </a:r>
          </a:p>
          <a:p>
            <a:pPr marL="285750" indent="-285750">
              <a:buFont typeface="Arial" panose="020B0604020202020204" pitchFamily="34" charset="0"/>
              <a:buChar char="•"/>
            </a:pPr>
            <a:r>
              <a:rPr lang="en-US" dirty="0" smtClean="0">
                <a:solidFill>
                  <a:schemeClr val="tx1"/>
                </a:solidFill>
              </a:rPr>
              <a:t>TenDichGia: Tên dịch giả.</a:t>
            </a:r>
          </a:p>
          <a:p>
            <a:pPr marL="285750" indent="-285750">
              <a:buFont typeface="Arial" panose="020B0604020202020204" pitchFamily="34" charset="0"/>
              <a:buChar char="•"/>
            </a:pPr>
            <a:r>
              <a:rPr lang="en-US" dirty="0" smtClean="0">
                <a:solidFill>
                  <a:schemeClr val="tx1"/>
                </a:solidFill>
              </a:rPr>
              <a:t>GioiTinh: Giới tính dịch giả.</a:t>
            </a:r>
            <a:endParaRPr lang="en-US" dirty="0">
              <a:solidFill>
                <a:schemeClr val="tx1"/>
              </a:solidFill>
            </a:endParaRPr>
          </a:p>
          <a:p>
            <a:pPr marL="285750" indent="-285750">
              <a:buFont typeface="Arial" panose="020B0604020202020204" pitchFamily="34" charset="0"/>
              <a:buChar char="•"/>
            </a:pPr>
            <a:r>
              <a:rPr lang="en-US" dirty="0" smtClean="0">
                <a:solidFill>
                  <a:schemeClr val="tx1"/>
                </a:solidFill>
              </a:rPr>
              <a:t>Email: Email dịch giả.</a:t>
            </a:r>
          </a:p>
          <a:p>
            <a:pPr marL="285750" indent="-285750">
              <a:buFont typeface="Arial" panose="020B0604020202020204" pitchFamily="34" charset="0"/>
              <a:buChar char="•"/>
            </a:pPr>
            <a:r>
              <a:rPr lang="en-US" dirty="0" smtClean="0">
                <a:solidFill>
                  <a:schemeClr val="tx1"/>
                </a:solidFill>
              </a:rPr>
              <a:t>SDT: Số điện thoại dịch giả.</a:t>
            </a:r>
          </a:p>
          <a:p>
            <a:pPr marL="285750" indent="-285750">
              <a:buFont typeface="Arial" panose="020B0604020202020204" pitchFamily="34" charset="0"/>
              <a:buChar char="•"/>
            </a:pPr>
            <a:r>
              <a:rPr lang="en-US" dirty="0" smtClean="0">
                <a:solidFill>
                  <a:schemeClr val="tx1"/>
                </a:solidFill>
              </a:rPr>
              <a:t>DiaChi: Địa chỉ của dịch giả.</a:t>
            </a:r>
            <a:endParaRPr lang="en-US" dirty="0">
              <a:solidFill>
                <a:schemeClr val="tx1"/>
              </a:solidFill>
            </a:endParaRPr>
          </a:p>
        </p:txBody>
      </p:sp>
    </p:spTree>
    <p:extLst>
      <p:ext uri="{BB962C8B-B14F-4D97-AF65-F5344CB8AC3E}">
        <p14:creationId xmlns:p14="http://schemas.microsoft.com/office/powerpoint/2010/main" val="29730542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dự án</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602681" y="1508166"/>
            <a:ext cx="5586142" cy="1769421"/>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681" y="3853543"/>
            <a:ext cx="5586142" cy="2107870"/>
          </a:xfrm>
          <a:prstGeom prst="rect">
            <a:avLst/>
          </a:prstGeom>
        </p:spPr>
      </p:pic>
      <p:sp>
        <p:nvSpPr>
          <p:cNvPr id="5" name="Rectangle 4"/>
          <p:cNvSpPr/>
          <p:nvPr/>
        </p:nvSpPr>
        <p:spPr>
          <a:xfrm>
            <a:off x="1" y="1508166"/>
            <a:ext cx="6602680"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MaDuAn (khoá chính): Mã dự án tương ứng với các dự án mà khách hàng đặt.</a:t>
            </a:r>
          </a:p>
          <a:p>
            <a:pPr marL="285750" indent="-285750">
              <a:buFont typeface="Arial" panose="020B0604020202020204" pitchFamily="34" charset="0"/>
              <a:buChar char="•"/>
            </a:pPr>
            <a:r>
              <a:rPr lang="en-US" dirty="0" smtClean="0">
                <a:solidFill>
                  <a:schemeClr val="tx1"/>
                </a:solidFill>
              </a:rPr>
              <a:t>MaKhachHang (khoá ngoại): Mã khách hàng, tham chiếu đến “MaKhachHang” trong bảng khách hàng để chỉ từng dự án của khách hàng được tham chiếu.</a:t>
            </a:r>
          </a:p>
          <a:p>
            <a:pPr marL="285750" indent="-285750">
              <a:buFont typeface="Arial" panose="020B0604020202020204" pitchFamily="34" charset="0"/>
              <a:buChar char="•"/>
            </a:pPr>
            <a:r>
              <a:rPr lang="en-US" dirty="0" smtClean="0">
                <a:solidFill>
                  <a:schemeClr val="tx1"/>
                </a:solidFill>
              </a:rPr>
              <a:t>MaLinhVuc_DichThuat (khoá ngoại): Mã lĩnh vực dịch thuật, tham chiếu đến “MaLinhVuc_DichThuat” trong bảng lĩnh vực dịch thuật để chỉ dự án thuộc lĩnh vực nào.</a:t>
            </a:r>
          </a:p>
          <a:p>
            <a:pPr marL="285750" indent="-285750">
              <a:buFont typeface="Arial" panose="020B0604020202020204" pitchFamily="34" charset="0"/>
              <a:buChar char="•"/>
            </a:pPr>
            <a:r>
              <a:rPr lang="en-US" dirty="0" smtClean="0">
                <a:solidFill>
                  <a:schemeClr val="tx1"/>
                </a:solidFill>
              </a:rPr>
              <a:t>NgonNguGoc (khoá ngoại): Ngôn ngữ gốc, tham chiếu đến “MaNgonNgu” trong bảng ngôn ngữ để chỉ ngôn ngữ gốc của dự án là gì.</a:t>
            </a:r>
          </a:p>
          <a:p>
            <a:pPr marL="285750" indent="-285750">
              <a:buFont typeface="Arial" panose="020B0604020202020204" pitchFamily="34" charset="0"/>
              <a:buChar char="•"/>
            </a:pPr>
            <a:r>
              <a:rPr lang="en-US" dirty="0" smtClean="0">
                <a:solidFill>
                  <a:schemeClr val="tx1"/>
                </a:solidFill>
              </a:rPr>
              <a:t>MaDichGia (khoá ngoại): Mã dịch giả, tham chiếu đến “MaDichGia” trong bảng dịch giả để chỉ dịch giả phụ trách dự án nào.</a:t>
            </a:r>
          </a:p>
          <a:p>
            <a:pPr marL="285750" indent="-285750">
              <a:buFont typeface="Arial" panose="020B0604020202020204" pitchFamily="34" charset="0"/>
              <a:buChar char="•"/>
            </a:pPr>
            <a:r>
              <a:rPr lang="en-US" dirty="0" smtClean="0">
                <a:solidFill>
                  <a:schemeClr val="tx1"/>
                </a:solidFill>
              </a:rPr>
              <a:t>NgonNguDichSang (khoá ngoại): Ngôn ngữ dịch sang, tham chiếu đến “MaNgonNgu” trong bảng ngôn ngữ để chỉ ngôn ngữ mà khách hàng yêu cầu dịch sang là gì.</a:t>
            </a:r>
          </a:p>
          <a:p>
            <a:pPr marL="285750" indent="-285750">
              <a:buFont typeface="Arial" panose="020B0604020202020204" pitchFamily="34" charset="0"/>
              <a:buChar char="•"/>
            </a:pPr>
            <a:r>
              <a:rPr lang="en-US" dirty="0" smtClean="0">
                <a:solidFill>
                  <a:schemeClr val="tx1"/>
                </a:solidFill>
              </a:rPr>
              <a:t>TenDuAn: Tên dự án mà khách hàng đặt.</a:t>
            </a:r>
          </a:p>
          <a:p>
            <a:pPr marL="285750" indent="-285750">
              <a:buFont typeface="Arial" panose="020B0604020202020204" pitchFamily="34" charset="0"/>
              <a:buChar char="•"/>
            </a:pPr>
            <a:r>
              <a:rPr lang="en-US" dirty="0" smtClean="0">
                <a:solidFill>
                  <a:schemeClr val="tx1"/>
                </a:solidFill>
              </a:rPr>
              <a:t>SoTrang: Số trang của dự án.</a:t>
            </a:r>
            <a:endParaRPr lang="en-US" dirty="0">
              <a:solidFill>
                <a:schemeClr val="tx1"/>
              </a:solidFill>
            </a:endParaRPr>
          </a:p>
        </p:txBody>
      </p:sp>
    </p:spTree>
    <p:extLst>
      <p:ext uri="{BB962C8B-B14F-4D97-AF65-F5344CB8AC3E}">
        <p14:creationId xmlns:p14="http://schemas.microsoft.com/office/powerpoint/2010/main" val="1031648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khuyến mãi</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18613" y="1508166"/>
            <a:ext cx="5759533" cy="2137741"/>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613" y="4361212"/>
            <a:ext cx="5773387" cy="1222342"/>
          </a:xfrm>
          <a:prstGeom prst="rect">
            <a:avLst/>
          </a:prstGeom>
        </p:spPr>
      </p:pic>
      <p:sp>
        <p:nvSpPr>
          <p:cNvPr id="5" name="Rectangle 4"/>
          <p:cNvSpPr/>
          <p:nvPr/>
        </p:nvSpPr>
        <p:spPr>
          <a:xfrm>
            <a:off x="0"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MaKhuyenMai (khoá chính): Mã khuyến </a:t>
            </a:r>
            <a:r>
              <a:rPr lang="en-US" dirty="0" smtClean="0">
                <a:solidFill>
                  <a:schemeClr val="tx1"/>
                </a:solidFill>
              </a:rPr>
              <a:t>mãi tương ứng với từng loại khuyến mãi đang có.</a:t>
            </a:r>
            <a:endParaRPr lang="en-US" dirty="0" smtClean="0">
              <a:solidFill>
                <a:schemeClr val="tx1"/>
              </a:solidFill>
            </a:endParaRPr>
          </a:p>
          <a:p>
            <a:pPr marL="285750" indent="-285750">
              <a:buFont typeface="Arial" panose="020B0604020202020204" pitchFamily="34" charset="0"/>
              <a:buChar char="•"/>
            </a:pPr>
            <a:r>
              <a:rPr lang="en-US" dirty="0" smtClean="0">
                <a:solidFill>
                  <a:schemeClr val="tx1"/>
                </a:solidFill>
              </a:rPr>
              <a:t>TenKhuyenMai: Tên khuyến mãi.</a:t>
            </a:r>
          </a:p>
          <a:p>
            <a:pPr marL="285750" indent="-285750">
              <a:buFont typeface="Arial" panose="020B0604020202020204" pitchFamily="34" charset="0"/>
              <a:buChar char="•"/>
            </a:pPr>
            <a:r>
              <a:rPr lang="en-US" dirty="0" smtClean="0">
                <a:solidFill>
                  <a:schemeClr val="tx1"/>
                </a:solidFill>
              </a:rPr>
              <a:t>GiaGiam: giá giảm của khuyến mãi tương ứng.</a:t>
            </a:r>
          </a:p>
          <a:p>
            <a:endParaRPr lang="en-US" dirty="0">
              <a:solidFill>
                <a:schemeClr val="tx1"/>
              </a:solidFill>
            </a:endParaRPr>
          </a:p>
        </p:txBody>
      </p:sp>
    </p:spTree>
    <p:extLst>
      <p:ext uri="{BB962C8B-B14F-4D97-AF65-F5344CB8AC3E}">
        <p14:creationId xmlns:p14="http://schemas.microsoft.com/office/powerpoint/2010/main" val="15726636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giá ngôn ngữ</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18613" y="1508166"/>
            <a:ext cx="5776563" cy="2196935"/>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1789" y="4473250"/>
            <a:ext cx="5773387" cy="1856298"/>
          </a:xfrm>
          <a:prstGeom prst="rect">
            <a:avLst/>
          </a:prstGeom>
        </p:spPr>
      </p:pic>
      <p:sp>
        <p:nvSpPr>
          <p:cNvPr id="5" name="Rectangle 4"/>
          <p:cNvSpPr/>
          <p:nvPr/>
        </p:nvSpPr>
        <p:spPr>
          <a:xfrm>
            <a:off x="0"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MaGiaNgonNgu (khoá chính): Mã giá ngôn </a:t>
            </a:r>
            <a:r>
              <a:rPr lang="en-US" dirty="0" smtClean="0">
                <a:solidFill>
                  <a:schemeClr val="tx1"/>
                </a:solidFill>
              </a:rPr>
              <a:t>ngữ của từng loại ngôn ngữ hiện có.</a:t>
            </a:r>
            <a:endParaRPr lang="en-US" dirty="0" smtClean="0">
              <a:solidFill>
                <a:schemeClr val="tx1"/>
              </a:solidFill>
            </a:endParaRPr>
          </a:p>
          <a:p>
            <a:pPr marL="285750" indent="-285750">
              <a:buFont typeface="Arial" panose="020B0604020202020204" pitchFamily="34" charset="0"/>
              <a:buChar char="•"/>
            </a:pPr>
            <a:r>
              <a:rPr lang="en-US" dirty="0" smtClean="0">
                <a:solidFill>
                  <a:schemeClr val="tx1"/>
                </a:solidFill>
              </a:rPr>
              <a:t>MaNgonNgu (khoá ngoại): Mã ngôn ngữ, tham chiếu đến “MaNgonNgu” trong bảng ngôn ngữ.</a:t>
            </a:r>
          </a:p>
          <a:p>
            <a:pPr marL="285750" indent="-285750">
              <a:buFont typeface="Arial" panose="020B0604020202020204" pitchFamily="34" charset="0"/>
              <a:buChar char="•"/>
            </a:pPr>
            <a:r>
              <a:rPr lang="en-US" dirty="0" smtClean="0">
                <a:solidFill>
                  <a:schemeClr val="tx1"/>
                </a:solidFill>
              </a:rPr>
              <a:t>TenNgonNgu: Tên của ngôn ngữ.</a:t>
            </a:r>
          </a:p>
          <a:p>
            <a:pPr marL="285750" indent="-285750">
              <a:buFont typeface="Arial" panose="020B0604020202020204" pitchFamily="34" charset="0"/>
              <a:buChar char="•"/>
            </a:pPr>
            <a:r>
              <a:rPr lang="en-US" dirty="0" smtClean="0">
                <a:solidFill>
                  <a:schemeClr val="tx1"/>
                </a:solidFill>
              </a:rPr>
              <a:t>GiaChoMoiTrang: Giá cho mỗi trang, tương ứng với từng loại ngôn ngữ được liệt kê.</a:t>
            </a:r>
            <a:endParaRPr lang="en-US" dirty="0">
              <a:solidFill>
                <a:schemeClr val="tx1"/>
              </a:solidFill>
            </a:endParaRPr>
          </a:p>
        </p:txBody>
      </p:sp>
    </p:spTree>
    <p:extLst>
      <p:ext uri="{BB962C8B-B14F-4D97-AF65-F5344CB8AC3E}">
        <p14:creationId xmlns:p14="http://schemas.microsoft.com/office/powerpoint/2010/main" val="36259650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báo giá</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18613" y="1508165"/>
            <a:ext cx="5773387" cy="2379967"/>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612" y="3888133"/>
            <a:ext cx="5773387" cy="2969867"/>
          </a:xfrm>
          <a:prstGeom prst="rect">
            <a:avLst/>
          </a:prstGeom>
        </p:spPr>
      </p:pic>
      <p:sp>
        <p:nvSpPr>
          <p:cNvPr id="5" name="Rectangle 4"/>
          <p:cNvSpPr/>
          <p:nvPr/>
        </p:nvSpPr>
        <p:spPr>
          <a:xfrm>
            <a:off x="0"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MaBaoGia (khoá chính): Mã báo giá của các dự án mà khách hàng đặt.</a:t>
            </a:r>
          </a:p>
          <a:p>
            <a:pPr marL="285750" indent="-285750">
              <a:buFont typeface="Arial" panose="020B0604020202020204" pitchFamily="34" charset="0"/>
              <a:buChar char="•"/>
            </a:pPr>
            <a:r>
              <a:rPr lang="en-US" dirty="0" smtClean="0">
                <a:solidFill>
                  <a:schemeClr val="tx1"/>
                </a:solidFill>
              </a:rPr>
              <a:t>MaDuAn (khoá ngoại): Mã dự án, tham chiếu đến “MaDuAn” của bảng dự án.</a:t>
            </a:r>
          </a:p>
          <a:p>
            <a:pPr marL="285750" indent="-285750">
              <a:buFont typeface="Arial" panose="020B0604020202020204" pitchFamily="34" charset="0"/>
              <a:buChar char="•"/>
            </a:pPr>
            <a:r>
              <a:rPr lang="en-US" dirty="0" smtClean="0">
                <a:solidFill>
                  <a:schemeClr val="tx1"/>
                </a:solidFill>
              </a:rPr>
              <a:t>GiaTien: Giá tiền của mỗi dự án. Được tính bằng cách lấy số trang của dự án nhân với giá tiền tương ứng với ngôn ngữ dịch sang của dự án (nếu ngôn ngữ dịch sang là tiếng Việt thì lấy ngôn ngữ gốc của dự án). </a:t>
            </a:r>
          </a:p>
          <a:p>
            <a:endParaRPr lang="en-US" dirty="0">
              <a:solidFill>
                <a:schemeClr val="tx1"/>
              </a:solidFill>
            </a:endParaRPr>
          </a:p>
        </p:txBody>
      </p:sp>
    </p:spTree>
    <p:extLst>
      <p:ext uri="{BB962C8B-B14F-4D97-AF65-F5344CB8AC3E}">
        <p14:creationId xmlns:p14="http://schemas.microsoft.com/office/powerpoint/2010/main" val="40664223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đơn hàng</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30490" y="1508165"/>
            <a:ext cx="5767448" cy="2915393"/>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613" y="4423559"/>
            <a:ext cx="5773387" cy="1246909"/>
          </a:xfrm>
          <a:prstGeom prst="rect">
            <a:avLst/>
          </a:prstGeom>
        </p:spPr>
      </p:pic>
      <p:sp>
        <p:nvSpPr>
          <p:cNvPr id="5" name="Rectangle 4"/>
          <p:cNvSpPr/>
          <p:nvPr/>
        </p:nvSpPr>
        <p:spPr>
          <a:xfrm>
            <a:off x="5938"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smtClean="0">
                <a:solidFill>
                  <a:schemeClr val="tx1"/>
                </a:solidFill>
              </a:rPr>
              <a:t>MaDonHang (khoá chính): Mã đơn hàng của từng đơn hàng mà khách hàng đặt.</a:t>
            </a:r>
          </a:p>
          <a:p>
            <a:pPr marL="285750" indent="-285750">
              <a:buFont typeface="Arial" panose="020B0604020202020204" pitchFamily="34" charset="0"/>
              <a:buChar char="•"/>
            </a:pPr>
            <a:r>
              <a:rPr lang="en-US" sz="1600" dirty="0" smtClean="0">
                <a:solidFill>
                  <a:schemeClr val="tx1"/>
                </a:solidFill>
              </a:rPr>
              <a:t>MaDuAn (khoá ngoại): Mã dự án, tham chiếu đến “MaDuAn” của bảng dự án.</a:t>
            </a:r>
          </a:p>
          <a:p>
            <a:pPr marL="285750" indent="-285750">
              <a:buFont typeface="Arial" panose="020B0604020202020204" pitchFamily="34" charset="0"/>
              <a:buChar char="•"/>
            </a:pPr>
            <a:r>
              <a:rPr lang="en-US" sz="1600" dirty="0" smtClean="0">
                <a:solidFill>
                  <a:schemeClr val="tx1"/>
                </a:solidFill>
              </a:rPr>
              <a:t>MaBaoGia (khoá ngoại): Mã báo giá, tham chiếu đến “MaBaoGia” của bảng báo giá.</a:t>
            </a:r>
          </a:p>
          <a:p>
            <a:pPr marL="285750" indent="-285750">
              <a:buFont typeface="Arial" panose="020B0604020202020204" pitchFamily="34" charset="0"/>
              <a:buChar char="•"/>
            </a:pPr>
            <a:r>
              <a:rPr lang="en-US" sz="1600" dirty="0" smtClean="0">
                <a:solidFill>
                  <a:schemeClr val="tx1"/>
                </a:solidFill>
              </a:rPr>
              <a:t>MaKhachHang (khoá ngoại): Mã khách hàng, tham chiếu đến “MaKhachHang” của bảng khách hàng.</a:t>
            </a:r>
          </a:p>
          <a:p>
            <a:pPr marL="285750" indent="-285750">
              <a:buFont typeface="Arial" panose="020B0604020202020204" pitchFamily="34" charset="0"/>
              <a:buChar char="•"/>
            </a:pPr>
            <a:r>
              <a:rPr lang="en-US" sz="1600" dirty="0" smtClean="0">
                <a:solidFill>
                  <a:schemeClr val="tx1"/>
                </a:solidFill>
              </a:rPr>
              <a:t>MaKhuyenMai (khoá ngoại): Mã khuyến mãi, tham chiếu đến “MaKhuyenMai” của bảng khuyến mãi.</a:t>
            </a:r>
          </a:p>
          <a:p>
            <a:pPr marL="285750" indent="-285750">
              <a:buFont typeface="Arial" panose="020B0604020202020204" pitchFamily="34" charset="0"/>
              <a:buChar char="•"/>
            </a:pPr>
            <a:r>
              <a:rPr lang="en-US" sz="1600" dirty="0" smtClean="0">
                <a:solidFill>
                  <a:schemeClr val="tx1"/>
                </a:solidFill>
              </a:rPr>
              <a:t>NgayBatDau: Ngày bắt đầu, để chỉ ngày bắt đầu của dự án mà khách hàng đặt đơn hàng.</a:t>
            </a:r>
          </a:p>
          <a:p>
            <a:pPr marL="285750" indent="-285750">
              <a:buFont typeface="Arial" panose="020B0604020202020204" pitchFamily="34" charset="0"/>
              <a:buChar char="•"/>
            </a:pPr>
            <a:r>
              <a:rPr lang="en-US" sz="1600" dirty="0" smtClean="0">
                <a:solidFill>
                  <a:schemeClr val="tx1"/>
                </a:solidFill>
              </a:rPr>
              <a:t>Ngay_HoanThanh_DuKien: Ngày hoàn thành dự kiến, để chỉ ngày hoàn thành dự kiến của đơn hàng.</a:t>
            </a:r>
          </a:p>
          <a:p>
            <a:pPr marL="285750" indent="-285750">
              <a:buFont typeface="Arial" panose="020B0604020202020204" pitchFamily="34" charset="0"/>
              <a:buChar char="•"/>
            </a:pPr>
            <a:r>
              <a:rPr lang="en-US" sz="1600" dirty="0" smtClean="0">
                <a:solidFill>
                  <a:schemeClr val="tx1"/>
                </a:solidFill>
              </a:rPr>
              <a:t>HinhThucThanhToan: Hình thức thanh toán, thanh toán bằng tiền mặt hoặc chuyển khoản.</a:t>
            </a:r>
          </a:p>
          <a:p>
            <a:pPr marL="285750" indent="-285750">
              <a:buFont typeface="Arial" panose="020B0604020202020204" pitchFamily="34" charset="0"/>
              <a:buChar char="•"/>
            </a:pPr>
            <a:r>
              <a:rPr lang="en-US" sz="1600" dirty="0" smtClean="0">
                <a:solidFill>
                  <a:schemeClr val="tx1"/>
                </a:solidFill>
              </a:rPr>
              <a:t>TrangThai: Trạng thái đơn hàng, để biết được đơn hàng đang xử lí hay hoàn thành rồi.</a:t>
            </a:r>
          </a:p>
          <a:p>
            <a:pPr marL="285750" indent="-285750">
              <a:buFont typeface="Arial" panose="020B0604020202020204" pitchFamily="34" charset="0"/>
              <a:buChar char="•"/>
            </a:pPr>
            <a:r>
              <a:rPr lang="en-US" sz="1600" dirty="0" smtClean="0">
                <a:solidFill>
                  <a:schemeClr val="tx1"/>
                </a:solidFill>
              </a:rPr>
              <a:t>GiaSauKhuyenMai: Giá sau khyến mãi, được tính bằng cách lấy giá tiền (GiaTien) của bảng báo giá nhân với giá giảm (GiaGiam) của bảng khuyến mãi rồi lấy giá tiền trừ đi kết quả nhân trên</a:t>
            </a:r>
            <a:endParaRPr lang="en-US" sz="1600" dirty="0">
              <a:solidFill>
                <a:schemeClr val="tx1"/>
              </a:solidFill>
            </a:endParaRPr>
          </a:p>
        </p:txBody>
      </p:sp>
    </p:spTree>
    <p:extLst>
      <p:ext uri="{BB962C8B-B14F-4D97-AF65-F5344CB8AC3E}">
        <p14:creationId xmlns:p14="http://schemas.microsoft.com/office/powerpoint/2010/main" val="9879315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ln>
            <a:solidFill>
              <a:schemeClr val="tx1"/>
            </a:solidFill>
          </a:ln>
        </p:spPr>
        <p:txBody>
          <a:bodyPr/>
          <a:lstStyle/>
          <a:p>
            <a:pPr algn="ctr"/>
            <a:r>
              <a:rPr lang="en-US" dirty="0" smtClean="0">
                <a:solidFill>
                  <a:prstClr val="black"/>
                </a:solidFill>
              </a:rPr>
              <a:t>35 </a:t>
            </a:r>
            <a:r>
              <a:rPr lang="en-US" dirty="0">
                <a:solidFill>
                  <a:prstClr val="black"/>
                </a:solidFill>
              </a:rPr>
              <a:t>câu truy vấn</a:t>
            </a:r>
            <a:endParaRPr lang="en-US" dirty="0"/>
          </a:p>
        </p:txBody>
      </p:sp>
      <p:pic>
        <p:nvPicPr>
          <p:cNvPr id="17" name="Content Placeholder 1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733937"/>
            <a:ext cx="4812565" cy="5124063"/>
          </a:xfrm>
        </p:spPr>
      </p:pic>
      <p:pic>
        <p:nvPicPr>
          <p:cNvPr id="18" name="Content Placeholder 1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04687" y="1733937"/>
            <a:ext cx="4702559" cy="5124063"/>
          </a:xfrm>
        </p:spPr>
      </p:pic>
    </p:spTree>
    <p:extLst>
      <p:ext uri="{BB962C8B-B14F-4D97-AF65-F5344CB8AC3E}">
        <p14:creationId xmlns:p14="http://schemas.microsoft.com/office/powerpoint/2010/main" val="33646245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ln>
            <a:solidFill>
              <a:schemeClr val="tx1"/>
            </a:solidFill>
          </a:ln>
        </p:spPr>
        <p:txBody>
          <a:bodyPr/>
          <a:lstStyle/>
          <a:p>
            <a:pPr algn="ctr"/>
            <a:r>
              <a:rPr lang="en-US" dirty="0">
                <a:solidFill>
                  <a:prstClr val="black"/>
                </a:solidFill>
              </a:rPr>
              <a:t>5 thủ tục/hàm và 3 trigger</a:t>
            </a:r>
            <a:endParaRPr lang="en-US" dirty="0"/>
          </a:p>
        </p:txBody>
      </p:sp>
      <p:pic>
        <p:nvPicPr>
          <p:cNvPr id="17" name="Content Placeholder 1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1997" y="2582561"/>
            <a:ext cx="4642046" cy="2535931"/>
          </a:xfrm>
        </p:spPr>
      </p:pic>
      <p:pic>
        <p:nvPicPr>
          <p:cNvPr id="18" name="Content Placeholder 1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95740" y="3188044"/>
            <a:ext cx="6108699" cy="1473724"/>
          </a:xfrm>
        </p:spPr>
      </p:pic>
    </p:spTree>
    <p:extLst>
      <p:ext uri="{BB962C8B-B14F-4D97-AF65-F5344CB8AC3E}">
        <p14:creationId xmlns:p14="http://schemas.microsoft.com/office/powerpoint/2010/main" val="24220089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ln>
            <a:solidFill>
              <a:schemeClr val="tx1"/>
            </a:solidFill>
          </a:ln>
        </p:spPr>
        <p:txBody>
          <a:bodyPr>
            <a:normAutofit/>
          </a:bodyPr>
          <a:lstStyle/>
          <a:p>
            <a:pPr algn="ctr"/>
            <a:r>
              <a:rPr lang="en-US" dirty="0"/>
              <a:t>Tạo 3 người </a:t>
            </a:r>
            <a:r>
              <a:rPr lang="en-US" dirty="0" smtClean="0"/>
              <a:t>dùng.</a:t>
            </a: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3233" y="2502243"/>
            <a:ext cx="10520568" cy="2811422"/>
          </a:xfrm>
        </p:spPr>
      </p:pic>
    </p:spTree>
    <p:extLst>
      <p:ext uri="{BB962C8B-B14F-4D97-AF65-F5344CB8AC3E}">
        <p14:creationId xmlns:p14="http://schemas.microsoft.com/office/powerpoint/2010/main" val="11350579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793</TotalTime>
  <Words>1752</Words>
  <Application>Microsoft Office PowerPoint</Application>
  <PresentationFormat>Widescreen</PresentationFormat>
  <Paragraphs>94</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Office Theme</vt:lpstr>
      <vt:lpstr>BÁO CÁO NHÓM 2</vt:lpstr>
      <vt:lpstr>Danh sách thành viên</vt:lpstr>
      <vt:lpstr>Tổng quan</vt:lpstr>
      <vt:lpstr>Sơ đồ tồng quan của cơ sở dữ liệu</vt:lpstr>
      <vt:lpstr>Các nhu cầu được đáp ứng trong bảng cơ sở dữ liệu trên là: </vt:lpstr>
      <vt:lpstr>Bảng chính 1: Dự án</vt:lpstr>
      <vt:lpstr>Bảng chính 2: Đơn hàng</vt:lpstr>
      <vt:lpstr>Bảng ngôn ngữ</vt:lpstr>
      <vt:lpstr>Bảng khách hàng</vt:lpstr>
      <vt:lpstr>Bảng phản hồi</vt:lpstr>
      <vt:lpstr>Bảng lĩnh vực dịch thuật</vt:lpstr>
      <vt:lpstr>Bảng dịch giả</vt:lpstr>
      <vt:lpstr>Bảng dự án</vt:lpstr>
      <vt:lpstr>Bảng khuyến mãi</vt:lpstr>
      <vt:lpstr>Bảng giá ngôn ngữ</vt:lpstr>
      <vt:lpstr>Bảng báo giá</vt:lpstr>
      <vt:lpstr>Bảng đơn hàng</vt:lpstr>
      <vt:lpstr>35 câu truy vấn</vt:lpstr>
      <vt:lpstr>5 thủ tục/hàm và 3 trigger</vt:lpstr>
      <vt:lpstr>Tạo 3 người dùng.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Phạm Bá Dương</dc:creator>
  <cp:lastModifiedBy>Phạm Bá Dương</cp:lastModifiedBy>
  <cp:revision>90</cp:revision>
  <dcterms:created xsi:type="dcterms:W3CDTF">2024-04-12T13:33:33Z</dcterms:created>
  <dcterms:modified xsi:type="dcterms:W3CDTF">2024-04-14T08:19:06Z</dcterms:modified>
</cp:coreProperties>
</file>